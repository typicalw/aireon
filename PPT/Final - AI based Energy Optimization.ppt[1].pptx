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7" r:id="rId2"/>
    <p:sldId id="309" r:id="rId3"/>
    <p:sldId id="313" r:id="rId4"/>
    <p:sldId id="310" r:id="rId5"/>
    <p:sldId id="311" r:id="rId6"/>
    <p:sldId id="323" r:id="rId7"/>
    <p:sldId id="314" r:id="rId8"/>
    <p:sldId id="315" r:id="rId9"/>
    <p:sldId id="338" r:id="rId10"/>
    <p:sldId id="327" r:id="rId11"/>
    <p:sldId id="328" r:id="rId12"/>
    <p:sldId id="330" r:id="rId13"/>
    <p:sldId id="332" r:id="rId14"/>
    <p:sldId id="333" r:id="rId15"/>
    <p:sldId id="336" r:id="rId16"/>
    <p:sldId id="33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D7EE"/>
    <a:srgbClr val="F9C5FF"/>
    <a:srgbClr val="C085BB"/>
    <a:srgbClr val="FFFFFF"/>
    <a:srgbClr val="C08A5E"/>
    <a:srgbClr val="222E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CA64AE-89FD-483E-BB6F-82386B3EE3F9}" v="8" dt="2025-08-23T07:28:24.9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85"/>
    <p:restoredTop sz="94622"/>
  </p:normalViewPr>
  <p:slideViewPr>
    <p:cSldViewPr snapToGrid="0">
      <p:cViewPr varScale="1">
        <p:scale>
          <a:sx n="78" d="100"/>
          <a:sy n="78" d="100"/>
        </p:scale>
        <p:origin x="686" y="5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8FEE75-A6B2-4555-979B-B7EED2C25559}" type="datetimeFigureOut">
              <a:rPr lang="en-US" smtClean="0"/>
              <a:pPr/>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706D8E-F031-488D-90E2-B228AF72B154}" type="slidenum">
              <a:rPr lang="en-US" smtClean="0"/>
              <a:pPr/>
              <a:t>‹#›</a:t>
            </a:fld>
            <a:endParaRPr lang="en-US"/>
          </a:p>
        </p:txBody>
      </p:sp>
    </p:spTree>
    <p:extLst>
      <p:ext uri="{BB962C8B-B14F-4D97-AF65-F5344CB8AC3E}">
        <p14:creationId xmlns:p14="http://schemas.microsoft.com/office/powerpoint/2010/main" val="2933818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8706D8E-F031-488D-90E2-B228AF72B154}" type="slidenum">
              <a:rPr lang="en-US" smtClean="0"/>
              <a:pPr/>
              <a:t>1</a:t>
            </a:fld>
            <a:endParaRPr lang="en-US"/>
          </a:p>
        </p:txBody>
      </p:sp>
    </p:spTree>
    <p:extLst>
      <p:ext uri="{BB962C8B-B14F-4D97-AF65-F5344CB8AC3E}">
        <p14:creationId xmlns:p14="http://schemas.microsoft.com/office/powerpoint/2010/main" val="1038355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AB61914-BD65-49E6-B13D-8C50EF0C5BC8}" type="datetimeFigureOut">
              <a:rPr lang="en-IN" smtClean="0">
                <a:solidFill>
                  <a:prstClr val="black">
                    <a:tint val="75000"/>
                  </a:prstClr>
                </a:solidFill>
              </a:rPr>
              <a:pPr/>
              <a:t>23-11-2025</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96692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AB61914-BD65-49E6-B13D-8C50EF0C5BC8}" type="datetimeFigureOut">
              <a:rPr lang="en-IN" smtClean="0">
                <a:solidFill>
                  <a:prstClr val="black">
                    <a:tint val="75000"/>
                  </a:prstClr>
                </a:solidFill>
              </a:rPr>
              <a:pPr/>
              <a:t>23-11-2025</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850927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B61914-BD65-49E6-B13D-8C50EF0C5BC8}" type="datetimeFigureOut">
              <a:rPr lang="en-IN" smtClean="0">
                <a:solidFill>
                  <a:prstClr val="black">
                    <a:tint val="75000"/>
                  </a:prstClr>
                </a:solidFill>
              </a:rPr>
              <a:pPr/>
              <a:t>23-11-2025</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196191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AB61914-BD65-49E6-B13D-8C50EF0C5BC8}" type="datetimeFigureOut">
              <a:rPr lang="en-IN" smtClean="0">
                <a:solidFill>
                  <a:prstClr val="black">
                    <a:tint val="75000"/>
                  </a:prstClr>
                </a:solidFill>
              </a:rPr>
              <a:pPr/>
              <a:t>23-11-2025</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462745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AB61914-BD65-49E6-B13D-8C50EF0C5BC8}" type="datetimeFigureOut">
              <a:rPr lang="en-IN" smtClean="0">
                <a:solidFill>
                  <a:prstClr val="black">
                    <a:tint val="75000"/>
                  </a:prstClr>
                </a:solidFill>
              </a:rPr>
              <a:pPr/>
              <a:t>23-11-2025</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6876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AB61914-BD65-49E6-B13D-8C50EF0C5BC8}" type="datetimeFigureOut">
              <a:rPr lang="en-IN" smtClean="0">
                <a:solidFill>
                  <a:prstClr val="black">
                    <a:tint val="75000"/>
                  </a:prstClr>
                </a:solidFill>
              </a:rPr>
              <a:pPr/>
              <a:t>23-11-2025</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795659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B61914-BD65-49E6-B13D-8C50EF0C5BC8}" type="datetimeFigureOut">
              <a:rPr lang="en-IN" smtClean="0">
                <a:solidFill>
                  <a:prstClr val="black">
                    <a:tint val="75000"/>
                  </a:prstClr>
                </a:solidFill>
              </a:rPr>
              <a:pPr/>
              <a:t>23-11-2025</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82838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AB61914-BD65-49E6-B13D-8C50EF0C5BC8}" type="datetimeFigureOut">
              <a:rPr lang="en-IN" smtClean="0">
                <a:solidFill>
                  <a:prstClr val="black">
                    <a:tint val="75000"/>
                  </a:prstClr>
                </a:solidFill>
              </a:rPr>
              <a:pPr/>
              <a:t>23-11-2025</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758261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AB61914-BD65-49E6-B13D-8C50EF0C5BC8}" type="datetimeFigureOut">
              <a:rPr lang="en-IN" smtClean="0">
                <a:solidFill>
                  <a:prstClr val="black">
                    <a:tint val="75000"/>
                  </a:prstClr>
                </a:solidFill>
              </a:rPr>
              <a:pPr/>
              <a:t>23-11-2025</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896294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AB61914-BD65-49E6-B13D-8C50EF0C5BC8}" type="datetimeFigureOut">
              <a:rPr lang="en-IN" smtClean="0">
                <a:solidFill>
                  <a:prstClr val="black">
                    <a:tint val="75000"/>
                  </a:prstClr>
                </a:solidFill>
              </a:rPr>
              <a:pPr/>
              <a:t>23-11-2025</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746515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AB61914-BD65-49E6-B13D-8C50EF0C5BC8}" type="datetimeFigureOut">
              <a:rPr lang="en-IN" smtClean="0">
                <a:solidFill>
                  <a:prstClr val="black">
                    <a:tint val="75000"/>
                  </a:prstClr>
                </a:solidFill>
              </a:rPr>
              <a:pPr/>
              <a:t>23-11-2025</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237627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B61914-BD65-49E6-B13D-8C50EF0C5BC8}" type="datetimeFigureOut">
              <a:rPr lang="en-IN" smtClean="0">
                <a:solidFill>
                  <a:prstClr val="black">
                    <a:tint val="75000"/>
                  </a:prstClr>
                </a:solidFill>
              </a:rPr>
              <a:pPr/>
              <a:t>23-11-2025</a:t>
            </a:fld>
            <a:endParaRPr lang="en-IN">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B6B689-C4E4-455B-8D67-3A7798DC1D5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2891624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hyperlink" Target="https://www.google.com/url?sa=i&amp;url=https%3A%2F%2Fwww.icagile.com%2Fresources%2Ftypes-of-agile-methodology&amp;psig=AOvVaw170l5lM0ha4rA1Z0TdNRIF&amp;ust=1756366898783000&amp;source=images&amp;cd=vfe&amp;opi=89978449&amp;ved=0CBUQjRxqFwoTCPDI5-K-qo8DFQAAAAAdAAAAABA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929840"/>
            <a:ext cx="12191999" cy="1201330"/>
          </a:xfrm>
          <a:solidFill>
            <a:schemeClr val="accent4">
              <a:lumMod val="60000"/>
              <a:lumOff val="40000"/>
            </a:schemeClr>
          </a:solidFill>
          <a:ln>
            <a:solidFill>
              <a:schemeClr val="accent6">
                <a:lumMod val="20000"/>
                <a:lumOff val="80000"/>
              </a:schemeClr>
            </a:solidFill>
          </a:ln>
        </p:spPr>
        <p:txBody>
          <a:bodyPr anchor="ctr">
            <a:normAutofit/>
          </a:bodyPr>
          <a:lstStyle/>
          <a:p>
            <a:r>
              <a:rPr lang="en-IN" sz="3200" b="1" dirty="0"/>
              <a:t>AI-Based Energy Optimization in IoT Networks</a:t>
            </a:r>
            <a:endParaRPr lang="en-IN" sz="3200" b="1" dirty="0">
              <a:latin typeface="Times New Roman" panose="02020603050405020304" pitchFamily="18" charset="0"/>
              <a:cs typeface="Times New Roman" panose="02020603050405020304" pitchFamily="18" charset="0"/>
            </a:endParaRPr>
          </a:p>
        </p:txBody>
      </p:sp>
      <p:pic>
        <p:nvPicPr>
          <p:cNvPr id="62" name="Picture 6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1216939" cy="1406769"/>
          </a:xfrm>
          <a:prstGeom prst="rect">
            <a:avLst/>
          </a:prstGeom>
          <a:noFill/>
          <a:ln>
            <a:noFill/>
          </a:ln>
        </p:spPr>
      </p:pic>
      <p:sp>
        <p:nvSpPr>
          <p:cNvPr id="28" name="TextBox 27"/>
          <p:cNvSpPr txBox="1"/>
          <p:nvPr/>
        </p:nvSpPr>
        <p:spPr>
          <a:xfrm>
            <a:off x="1216939" y="-25462"/>
            <a:ext cx="9591900" cy="1200329"/>
          </a:xfrm>
          <a:prstGeom prst="rect">
            <a:avLst/>
          </a:prstGeom>
          <a:solidFill>
            <a:srgbClr val="002060"/>
          </a:solidFill>
          <a:ln>
            <a:noFill/>
          </a:ln>
        </p:spPr>
        <p:txBody>
          <a:bodyPr wrap="square" rtlCol="0" anchor="ctr">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Bangalore Institute of Technology</a:t>
            </a:r>
          </a:p>
          <a:p>
            <a:pPr algn="ctr"/>
            <a:r>
              <a:rPr lang="en-IN" sz="1600" dirty="0">
                <a:solidFill>
                  <a:schemeClr val="bg1"/>
                </a:solidFill>
                <a:latin typeface="Times New Roman" panose="02020603050405020304" pitchFamily="18" charset="0"/>
                <a:cs typeface="Times New Roman" panose="02020603050405020304" pitchFamily="18" charset="0"/>
              </a:rPr>
              <a:t>K.R. Road, VV Puram, Bangalore-560004</a:t>
            </a:r>
          </a:p>
          <a:p>
            <a:pPr algn="ctr"/>
            <a:r>
              <a:rPr lang="en-IN" sz="2400" b="1" dirty="0">
                <a:solidFill>
                  <a:schemeClr val="bg1"/>
                </a:solidFill>
                <a:latin typeface="Times New Roman" panose="02020603050405020304" pitchFamily="18" charset="0"/>
                <a:cs typeface="Times New Roman" panose="02020603050405020304" pitchFamily="18" charset="0"/>
              </a:rPr>
              <a:t>Department of  Electronics and Communication Engineering</a:t>
            </a:r>
            <a:endParaRPr lang="en-IN" sz="2800" b="1" i="1" dirty="0">
              <a:solidFill>
                <a:schemeClr val="bg1"/>
              </a:solidFill>
              <a:latin typeface="Times New Roman" panose="02020603050405020304" pitchFamily="18" charset="0"/>
              <a:cs typeface="Times New Roman" panose="02020603050405020304" pitchFamily="18" charset="0"/>
            </a:endParaRPr>
          </a:p>
        </p:txBody>
      </p:sp>
      <p:pic>
        <p:nvPicPr>
          <p:cNvPr id="18436" name="Picture 4" descr="352397-vtu-logo - Kollege Times"/>
          <p:cNvPicPr>
            <a:picLocks noChangeAspect="1" noChangeArrowheads="1"/>
          </p:cNvPicPr>
          <p:nvPr/>
        </p:nvPicPr>
        <p:blipFill>
          <a:blip r:embed="rId4" cstate="print"/>
          <a:srcRect/>
          <a:stretch>
            <a:fillRect/>
          </a:stretch>
        </p:blipFill>
        <p:spPr bwMode="auto">
          <a:xfrm>
            <a:off x="10589115" y="1"/>
            <a:ext cx="1602885" cy="1406768"/>
          </a:xfrm>
          <a:prstGeom prst="rect">
            <a:avLst/>
          </a:prstGeom>
          <a:noFill/>
        </p:spPr>
      </p:pic>
      <p:sp>
        <p:nvSpPr>
          <p:cNvPr id="8" name="TextBox 7"/>
          <p:cNvSpPr txBox="1"/>
          <p:nvPr/>
        </p:nvSpPr>
        <p:spPr>
          <a:xfrm>
            <a:off x="2729344" y="1959697"/>
            <a:ext cx="6733309" cy="461665"/>
          </a:xfrm>
          <a:prstGeom prst="rect">
            <a:avLst/>
          </a:prstGeom>
          <a:solidFill>
            <a:schemeClr val="accent4">
              <a:lumMod val="20000"/>
              <a:lumOff val="80000"/>
            </a:schemeClr>
          </a:solidFill>
          <a:ln w="28575">
            <a:solidFill>
              <a:schemeClr val="tx1"/>
            </a:solidFill>
          </a:ln>
          <a:effectLst>
            <a:innerShdw blurRad="63500" dist="50800" dir="2700000">
              <a:prstClr val="black">
                <a:alpha val="50000"/>
              </a:prstClr>
            </a:innerShdw>
          </a:effectLst>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Mini-Project Presentation</a:t>
            </a:r>
          </a:p>
        </p:txBody>
      </p:sp>
      <p:sp>
        <p:nvSpPr>
          <p:cNvPr id="10" name="TextBox 9">
            <a:extLst>
              <a:ext uri="{FF2B5EF4-FFF2-40B4-BE49-F238E27FC236}">
                <a16:creationId xmlns:a16="http://schemas.microsoft.com/office/drawing/2014/main" id="{808E25C5-A206-AC46-B12C-E10B1599D933}"/>
              </a:ext>
            </a:extLst>
          </p:cNvPr>
          <p:cNvSpPr txBox="1"/>
          <p:nvPr/>
        </p:nvSpPr>
        <p:spPr>
          <a:xfrm>
            <a:off x="1035796" y="5139034"/>
            <a:ext cx="3571044" cy="1252459"/>
          </a:xfrm>
          <a:prstGeom prst="rect">
            <a:avLst/>
          </a:prstGeom>
          <a:solidFill>
            <a:schemeClr val="accent2">
              <a:lumMod val="20000"/>
              <a:lumOff val="80000"/>
            </a:schemeClr>
          </a:solidFill>
          <a:ln/>
        </p:spPr>
        <p:style>
          <a:lnRef idx="2">
            <a:schemeClr val="dk1"/>
          </a:lnRef>
          <a:fillRef idx="1">
            <a:schemeClr val="lt1"/>
          </a:fillRef>
          <a:effectRef idx="0">
            <a:schemeClr val="dk1"/>
          </a:effectRef>
          <a:fontRef idx="minor">
            <a:schemeClr val="dk1"/>
          </a:fontRef>
        </p:style>
        <p:txBody>
          <a:bodyPr wrap="square">
            <a:spAutoFit/>
          </a:bodyPr>
          <a:lstStyle/>
          <a:p>
            <a:pPr>
              <a:lnSpc>
                <a:spcPts val="2250"/>
              </a:lnSpc>
            </a:pPr>
            <a:r>
              <a:rPr lang="en-IN" dirty="0">
                <a:latin typeface="Times New Roman" panose="02020603050405020304" pitchFamily="18" charset="0"/>
                <a:cs typeface="Times New Roman" panose="02020603050405020304" pitchFamily="18" charset="0"/>
              </a:rPr>
              <a:t>Dr. Anupama H, </a:t>
            </a:r>
          </a:p>
          <a:p>
            <a:pPr>
              <a:lnSpc>
                <a:spcPts val="2250"/>
              </a:lnSpc>
            </a:pPr>
            <a:r>
              <a:rPr lang="en-IN" dirty="0">
                <a:latin typeface="Times New Roman" panose="02020603050405020304" pitchFamily="18" charset="0"/>
                <a:cs typeface="Times New Roman" panose="02020603050405020304" pitchFamily="18" charset="0"/>
              </a:rPr>
              <a:t>Assistant Professor</a:t>
            </a:r>
          </a:p>
          <a:p>
            <a:pPr>
              <a:lnSpc>
                <a:spcPts val="2250"/>
              </a:lnSpc>
            </a:pPr>
            <a:r>
              <a:rPr lang="en-IN" dirty="0">
                <a:latin typeface="Times New Roman" panose="02020603050405020304" pitchFamily="18" charset="0"/>
                <a:cs typeface="Times New Roman" panose="02020603050405020304" pitchFamily="18" charset="0"/>
              </a:rPr>
              <a:t>Dept. of ECE</a:t>
            </a:r>
          </a:p>
          <a:p>
            <a:pPr>
              <a:lnSpc>
                <a:spcPts val="2250"/>
              </a:lnSpc>
            </a:pPr>
            <a:r>
              <a:rPr lang="en-IN" dirty="0">
                <a:effectLst/>
                <a:latin typeface="Times New Roman" panose="02020603050405020304" pitchFamily="18" charset="0"/>
                <a:cs typeface="Times New Roman" panose="02020603050405020304" pitchFamily="18" charset="0"/>
              </a:rPr>
              <a:t>BIT.</a:t>
            </a:r>
            <a:endParaRPr lang="en-US" dirty="0">
              <a:effectLst/>
              <a:latin typeface="Times New Roman" panose="02020603050405020304" pitchFamily="18" charset="0"/>
              <a:cs typeface="Times New Roman" panose="02020603050405020304" pitchFamily="18" charset="0"/>
            </a:endParaRPr>
          </a:p>
        </p:txBody>
      </p:sp>
      <p:sp>
        <p:nvSpPr>
          <p:cNvPr id="11" name="Rectangle 10"/>
          <p:cNvSpPr/>
          <p:nvPr/>
        </p:nvSpPr>
        <p:spPr>
          <a:xfrm>
            <a:off x="1035795" y="4769702"/>
            <a:ext cx="3571045" cy="369332"/>
          </a:xfrm>
          <a:prstGeom prst="rect">
            <a:avLst/>
          </a:prstGeom>
          <a:solidFill>
            <a:schemeClr val="accent4">
              <a:lumMod val="60000"/>
              <a:lumOff val="40000"/>
            </a:schemeClr>
          </a:solidFill>
          <a:ln>
            <a:solidFill>
              <a:schemeClr val="tx2">
                <a:lumMod val="40000"/>
                <a:lumOff val="60000"/>
              </a:schemeClr>
            </a:solidFill>
          </a:ln>
          <a:effectLst>
            <a:innerShdw blurRad="63500" dist="50800" dir="18900000">
              <a:prstClr val="black">
                <a:alpha val="50000"/>
              </a:prstClr>
            </a:innerShdw>
          </a:effectLst>
        </p:spPr>
        <p:txBody>
          <a:bodyPr wrap="square">
            <a:spAutoFit/>
          </a:bodyPr>
          <a:lstStyle/>
          <a:p>
            <a:r>
              <a:rPr lang="en-US" b="1" dirty="0">
                <a:solidFill>
                  <a:srgbClr val="000000"/>
                </a:solidFill>
                <a:latin typeface="Times New Roman" panose="02020603050405020304" pitchFamily="18" charset="0"/>
                <a:cs typeface="Times New Roman" panose="02020603050405020304" pitchFamily="18" charset="0"/>
              </a:rPr>
              <a:t>Under the guidance of:</a:t>
            </a:r>
            <a:endParaRPr lang="en-US"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08E25C5-A206-AC46-B12C-E10B1599D933}"/>
              </a:ext>
            </a:extLst>
          </p:cNvPr>
          <p:cNvSpPr txBox="1"/>
          <p:nvPr/>
        </p:nvSpPr>
        <p:spPr>
          <a:xfrm>
            <a:off x="7082558" y="5150757"/>
            <a:ext cx="3726281" cy="646331"/>
          </a:xfrm>
          <a:prstGeom prst="rect">
            <a:avLst/>
          </a:prstGeom>
          <a:solidFill>
            <a:schemeClr val="accent2">
              <a:lumMod val="20000"/>
              <a:lumOff val="80000"/>
            </a:schemeClr>
          </a:solidFill>
          <a:ln/>
        </p:spPr>
        <p:style>
          <a:lnRef idx="2">
            <a:schemeClr val="dk1"/>
          </a:lnRef>
          <a:fillRef idx="1">
            <a:schemeClr val="lt1"/>
          </a:fillRef>
          <a:effectRef idx="0">
            <a:schemeClr val="dk1"/>
          </a:effectRef>
          <a:fontRef idx="minor">
            <a:schemeClr val="dk1"/>
          </a:fontRef>
        </p:style>
        <p:txBody>
          <a:bodyPr wrap="square">
            <a:spAutoFit/>
          </a:bodyPr>
          <a:lstStyle/>
          <a:p>
            <a:r>
              <a:rPr lang="en-IN" dirty="0">
                <a:latin typeface="Times New Roman" panose="02020603050405020304" pitchFamily="18" charset="0"/>
                <a:cs typeface="Times New Roman" panose="02020603050405020304" pitchFamily="18" charset="0"/>
              </a:rPr>
              <a:t>Ayush Kumar  (1BI23EC029)</a:t>
            </a:r>
          </a:p>
          <a:p>
            <a:r>
              <a:rPr lang="en-IN" dirty="0">
                <a:latin typeface="Times New Roman" panose="02020603050405020304" pitchFamily="18" charset="0"/>
                <a:cs typeface="Times New Roman" panose="02020603050405020304" pitchFamily="18" charset="0"/>
              </a:rPr>
              <a:t>Prajwal </a:t>
            </a:r>
            <a:r>
              <a:rPr lang="en-IN" dirty="0" err="1">
                <a:latin typeface="Times New Roman" panose="02020603050405020304" pitchFamily="18" charset="0"/>
                <a:cs typeface="Times New Roman" panose="02020603050405020304" pitchFamily="18" charset="0"/>
              </a:rPr>
              <a:t>kumar</a:t>
            </a:r>
            <a:r>
              <a:rPr lang="en-IN" dirty="0">
                <a:latin typeface="Times New Roman" panose="02020603050405020304" pitchFamily="18" charset="0"/>
                <a:cs typeface="Times New Roman" panose="02020603050405020304" pitchFamily="18" charset="0"/>
              </a:rPr>
              <a:t>  (1BI23EC110)</a:t>
            </a:r>
          </a:p>
        </p:txBody>
      </p:sp>
      <p:sp>
        <p:nvSpPr>
          <p:cNvPr id="13" name="Rectangle 12"/>
          <p:cNvSpPr/>
          <p:nvPr/>
        </p:nvSpPr>
        <p:spPr>
          <a:xfrm>
            <a:off x="7082558" y="4781425"/>
            <a:ext cx="3726281" cy="369332"/>
          </a:xfrm>
          <a:prstGeom prst="rect">
            <a:avLst/>
          </a:prstGeom>
          <a:solidFill>
            <a:schemeClr val="accent4">
              <a:lumMod val="60000"/>
              <a:lumOff val="40000"/>
            </a:schemeClr>
          </a:solidFill>
          <a:ln>
            <a:solidFill>
              <a:schemeClr val="tx2">
                <a:lumMod val="40000"/>
                <a:lumOff val="60000"/>
              </a:schemeClr>
            </a:solidFill>
          </a:ln>
          <a:effectLst>
            <a:innerShdw blurRad="63500" dist="50800" dir="18900000">
              <a:prstClr val="black">
                <a:alpha val="50000"/>
              </a:prstClr>
            </a:innerShdw>
          </a:effectLst>
        </p:spPr>
        <p:txBody>
          <a:bodyPr wrap="square">
            <a:spAutoFit/>
          </a:bodyPr>
          <a:lstStyle/>
          <a:p>
            <a:r>
              <a:rPr lang="en-US" b="1" dirty="0">
                <a:solidFill>
                  <a:srgbClr val="000000"/>
                </a:solidFill>
                <a:latin typeface="Times New Roman" panose="02020603050405020304" pitchFamily="18" charset="0"/>
                <a:cs typeface="Times New Roman" panose="02020603050405020304" pitchFamily="18" charset="0"/>
              </a:rPr>
              <a:t>Presented by</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93473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p:cNvSpPr txBox="1">
            <a:spLocks/>
          </p:cNvSpPr>
          <p:nvPr/>
        </p:nvSpPr>
        <p:spPr>
          <a:xfrm>
            <a:off x="0" y="33303"/>
            <a:ext cx="12191999" cy="787791"/>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latin typeface="Cambria" panose="02040503050406030204" pitchFamily="18" charset="0"/>
              </a:rPr>
              <a:t>  </a:t>
            </a:r>
            <a:r>
              <a:rPr lang="en-IN" sz="2800" b="1" dirty="0">
                <a:solidFill>
                  <a:schemeClr val="bg1"/>
                </a:solidFill>
                <a:latin typeface="Times New Roman" panose="02020603050405020304" pitchFamily="18" charset="0"/>
                <a:cs typeface="Times New Roman" panose="02020603050405020304" pitchFamily="18" charset="0"/>
              </a:rPr>
              <a:t>Institute Vision and Mission</a:t>
            </a:r>
            <a:endParaRPr lang="en-IN" sz="2000" b="1" dirty="0">
              <a:solidFill>
                <a:schemeClr val="bg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749387" y="1380269"/>
            <a:ext cx="8693224" cy="1489055"/>
          </a:xfrm>
          <a:prstGeom prst="rect">
            <a:avLst/>
          </a:prstGeom>
          <a:solidFill>
            <a:schemeClr val="bg2">
              <a:lumMod val="90000"/>
            </a:schemeClr>
          </a:solidFill>
          <a:ln w="3175">
            <a:solidFill>
              <a:schemeClr val="tx2">
                <a:lumMod val="60000"/>
                <a:lumOff val="40000"/>
              </a:schemeClr>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b"/>
            <a:r>
              <a:rPr lang="en-US" b="1" u="sng" dirty="0">
                <a:solidFill>
                  <a:srgbClr val="0070C0"/>
                </a:solidFill>
                <a:latin typeface="Times New Roman" panose="02020603050405020304" pitchFamily="18" charset="0"/>
                <a:cs typeface="Times New Roman" pitchFamily="18" charset="0"/>
              </a:rPr>
              <a:t>Vision:</a:t>
            </a:r>
            <a:r>
              <a:rPr lang="en-US" b="1" dirty="0">
                <a:solidFill>
                  <a:srgbClr val="0070C0"/>
                </a:solidFill>
                <a:latin typeface="Times New Roman" panose="02020603050405020304" pitchFamily="18" charset="0"/>
                <a:cs typeface="Times New Roman" pitchFamily="18" charset="0"/>
              </a:rPr>
              <a:t> </a:t>
            </a:r>
          </a:p>
          <a:p>
            <a:pPr algn="just" fontAlgn="b"/>
            <a:r>
              <a:rPr lang="en-US"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To establish and develop the Institute as a center of higher learning, ever abreast with the expanding horizon of knowledge in the field of engineering and technology, with entrepreneurial thinking, leadership excellence for life-long success, and the ability to solve societal problems.</a:t>
            </a:r>
            <a:endParaRPr lang="en-US" b="1" u="sng"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fontAlgn="b"/>
            <a:endParaRPr lang="en-US" b="1" u="sng" dirty="0">
              <a:solidFill>
                <a:srgbClr val="0070C0"/>
              </a:solidFill>
              <a:latin typeface="Times New Roman" pitchFamily="18" charset="0"/>
              <a:cs typeface="Times New Roman" pitchFamily="18" charset="0"/>
            </a:endParaRPr>
          </a:p>
        </p:txBody>
      </p:sp>
      <p:sp>
        <p:nvSpPr>
          <p:cNvPr id="12" name="Rectangle 11"/>
          <p:cNvSpPr/>
          <p:nvPr/>
        </p:nvSpPr>
        <p:spPr>
          <a:xfrm>
            <a:off x="1749387" y="3428499"/>
            <a:ext cx="8693224" cy="2306715"/>
          </a:xfrm>
          <a:prstGeom prst="rect">
            <a:avLst/>
          </a:prstGeom>
          <a:solidFill>
            <a:schemeClr val="bg2">
              <a:lumMod val="90000"/>
            </a:schemeClr>
          </a:solidFill>
          <a:ln w="3175">
            <a:solidFill>
              <a:schemeClr val="tx2">
                <a:lumMod val="60000"/>
                <a:lumOff val="40000"/>
              </a:schemeClr>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b"/>
            <a:r>
              <a:rPr lang="en-US" b="1" u="sng" dirty="0">
                <a:solidFill>
                  <a:srgbClr val="0070C0"/>
                </a:solidFill>
                <a:latin typeface="Times New Roman" pitchFamily="18" charset="0"/>
                <a:cs typeface="Times New Roman" pitchFamily="18" charset="0"/>
              </a:rPr>
              <a:t>Mission:</a:t>
            </a:r>
            <a:r>
              <a:rPr lang="en-US" dirty="0">
                <a:solidFill>
                  <a:srgbClr val="0070C0"/>
                </a:solidFill>
                <a:latin typeface="Times New Roman" pitchFamily="18" charset="0"/>
                <a:cs typeface="Times New Roman" pitchFamily="18" charset="0"/>
              </a:rPr>
              <a:t> </a:t>
            </a:r>
          </a:p>
          <a:p>
            <a:pPr algn="just" fontAlgn="b"/>
            <a:r>
              <a:rPr lang="en-US" dirty="0">
                <a:solidFill>
                  <a:schemeClr val="tx1"/>
                </a:solidFill>
                <a:latin typeface="Times New Roman" pitchFamily="18" charset="0"/>
                <a:cs typeface="Times New Roman" pitchFamily="18" charset="0"/>
              </a:rPr>
              <a:t>Provide high-quality education in the engineering disciplines from the undergraduate through doctoral levels with creative academic and professional programs. Develop the Institute as a leader in science, engineering, technology, and management, research, and apply knowledge for the benefit of society. Establish mutually beneficial partnerships with industry, alumni, local, state, and central governments by public service assistance and collaborative research. Inculcate personality development through sports, cultural, and extracurricular activities and engage in the social, economic, and professional challenges.</a:t>
            </a:r>
            <a:endParaRPr lang="en-US" b="1" u="sng" dirty="0">
              <a:solidFill>
                <a:schemeClr val="tx1"/>
              </a:solidFill>
              <a:latin typeface="Times New Roman" pitchFamily="18" charset="0"/>
              <a:cs typeface="Times New Roman" pitchFamily="18" charset="0"/>
            </a:endParaRPr>
          </a:p>
          <a:p>
            <a:pPr fontAlgn="b"/>
            <a:endParaRPr lang="en-US" b="1" u="sng" dirty="0">
              <a:solidFill>
                <a:srgbClr val="0070C0"/>
              </a:solidFill>
              <a:latin typeface="Times New Roman" pitchFamily="18" charset="0"/>
              <a:cs typeface="Times New Roman" pitchFamily="18" charset="0"/>
            </a:endParaRPr>
          </a:p>
        </p:txBody>
      </p:sp>
      <p:pic>
        <p:nvPicPr>
          <p:cNvPr id="2" name="Picture 4" descr="352397-vtu-logo - Kollege Times">
            <a:extLst>
              <a:ext uri="{FF2B5EF4-FFF2-40B4-BE49-F238E27FC236}">
                <a16:creationId xmlns:a16="http://schemas.microsoft.com/office/drawing/2014/main" id="{BE74A17C-F911-8F76-C5EE-46439B787457}"/>
              </a:ext>
            </a:extLst>
          </p:cNvPr>
          <p:cNvPicPr>
            <a:picLocks noChangeAspect="1" noChangeArrowheads="1"/>
          </p:cNvPicPr>
          <p:nvPr/>
        </p:nvPicPr>
        <p:blipFill>
          <a:blip r:embed="rId3" cstate="print"/>
          <a:srcRect/>
          <a:stretch>
            <a:fillRect/>
          </a:stretch>
        </p:blipFill>
        <p:spPr bwMode="auto">
          <a:xfrm>
            <a:off x="0" y="5784631"/>
            <a:ext cx="793630" cy="696527"/>
          </a:xfrm>
          <a:prstGeom prst="rect">
            <a:avLst/>
          </a:prstGeom>
          <a:noFill/>
        </p:spPr>
      </p:pic>
    </p:spTree>
    <p:extLst>
      <p:ext uri="{BB962C8B-B14F-4D97-AF65-F5344CB8AC3E}">
        <p14:creationId xmlns:p14="http://schemas.microsoft.com/office/powerpoint/2010/main" val="1019021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p:cNvSpPr txBox="1">
            <a:spLocks/>
          </p:cNvSpPr>
          <p:nvPr/>
        </p:nvSpPr>
        <p:spPr>
          <a:xfrm>
            <a:off x="-1" y="26271"/>
            <a:ext cx="12191999" cy="787791"/>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solidFill>
                  <a:schemeClr val="bg1"/>
                </a:solidFill>
                <a:latin typeface="Cambria" panose="02040503050406030204" pitchFamily="18" charset="0"/>
              </a:rPr>
              <a:t>  </a:t>
            </a:r>
            <a:r>
              <a:rPr lang="en-IN" sz="2800" b="1" dirty="0">
                <a:solidFill>
                  <a:schemeClr val="bg1"/>
                </a:solidFill>
                <a:latin typeface="Times New Roman" panose="02020603050405020304" pitchFamily="18" charset="0"/>
                <a:cs typeface="Times New Roman" panose="02020603050405020304" pitchFamily="18" charset="0"/>
              </a:rPr>
              <a:t>Department Vision , Mission, PEOs, PSOs</a:t>
            </a:r>
            <a:endParaRPr lang="en-IN" sz="2000" b="1" dirty="0">
              <a:solidFill>
                <a:schemeClr val="bg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749386" y="910835"/>
            <a:ext cx="8693224" cy="663461"/>
          </a:xfrm>
          <a:prstGeom prst="rect">
            <a:avLst/>
          </a:prstGeom>
          <a:solidFill>
            <a:schemeClr val="bg2">
              <a:lumMod val="90000"/>
            </a:schemeClr>
          </a:solidFill>
          <a:ln w="3175">
            <a:solidFill>
              <a:schemeClr val="tx2">
                <a:lumMod val="60000"/>
                <a:lumOff val="40000"/>
              </a:schemeClr>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fontAlgn="b"/>
            <a:r>
              <a:rPr lang="en-US" b="1" u="sng" dirty="0">
                <a:solidFill>
                  <a:srgbClr val="0070C0"/>
                </a:solidFill>
                <a:latin typeface="Times New Roman" pitchFamily="18" charset="0"/>
                <a:cs typeface="Times New Roman" pitchFamily="18" charset="0"/>
              </a:rPr>
              <a:t>Vision:</a:t>
            </a:r>
            <a:r>
              <a:rPr lang="en-US" b="1" dirty="0">
                <a:solidFill>
                  <a:srgbClr val="0070C0"/>
                </a:solidFill>
                <a:latin typeface="Times New Roman" pitchFamily="18" charset="0"/>
                <a:cs typeface="Times New Roman" pitchFamily="18" charset="0"/>
              </a:rPr>
              <a:t> </a:t>
            </a:r>
            <a:r>
              <a:rPr lang="en-US" sz="1800" dirty="0">
                <a:solidFill>
                  <a:schemeClr val="tx1"/>
                </a:solidFill>
                <a:latin typeface="Times New Roman" pitchFamily="18" charset="0"/>
                <a:cs typeface="Times New Roman" pitchFamily="18" charset="0"/>
              </a:rPr>
              <a:t>Imparting Quality Education to achieve Academic Excellence in Electronics and Communication Engineering for Global Competent Engineers.</a:t>
            </a:r>
          </a:p>
          <a:p>
            <a:pPr fontAlgn="b"/>
            <a:endParaRPr lang="en-US" b="1" u="sng" dirty="0">
              <a:solidFill>
                <a:srgbClr val="0070C0"/>
              </a:solidFill>
              <a:latin typeface="Times New Roman" pitchFamily="18" charset="0"/>
              <a:cs typeface="Times New Roman" pitchFamily="18" charset="0"/>
            </a:endParaRPr>
          </a:p>
        </p:txBody>
      </p:sp>
      <p:sp>
        <p:nvSpPr>
          <p:cNvPr id="12" name="Rectangle 11"/>
          <p:cNvSpPr/>
          <p:nvPr/>
        </p:nvSpPr>
        <p:spPr>
          <a:xfrm>
            <a:off x="1749387" y="1608835"/>
            <a:ext cx="8693224" cy="902306"/>
          </a:xfrm>
          <a:prstGeom prst="rect">
            <a:avLst/>
          </a:prstGeom>
          <a:solidFill>
            <a:schemeClr val="bg2">
              <a:lumMod val="90000"/>
            </a:schemeClr>
          </a:solidFill>
          <a:ln w="3175">
            <a:solidFill>
              <a:schemeClr val="tx2">
                <a:lumMod val="60000"/>
                <a:lumOff val="40000"/>
              </a:schemeClr>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just"/>
            <a:r>
              <a:rPr lang="en-US" b="1" u="sng" dirty="0">
                <a:solidFill>
                  <a:srgbClr val="0070C0"/>
                </a:solidFill>
                <a:latin typeface="Times New Roman" pitchFamily="18" charset="0"/>
                <a:cs typeface="Times New Roman" pitchFamily="18" charset="0"/>
              </a:rPr>
              <a:t>Mission:</a:t>
            </a:r>
            <a:r>
              <a:rPr lang="en-US" b="1" dirty="0">
                <a:solidFill>
                  <a:srgbClr val="0070C0"/>
                </a:solidFill>
                <a:latin typeface="Times New Roman" pitchFamily="18" charset="0"/>
                <a:cs typeface="Times New Roman" pitchFamily="18" charset="0"/>
              </a:rPr>
              <a:t> </a:t>
            </a:r>
            <a:r>
              <a:rPr lang="en-US" sz="1800" dirty="0">
                <a:solidFill>
                  <a:schemeClr val="tx1"/>
                </a:solidFill>
                <a:latin typeface="Times New Roman" pitchFamily="18" charset="0"/>
                <a:cs typeface="Times New Roman" pitchFamily="18" charset="0"/>
              </a:rPr>
              <a:t>Create state of art infrastructure for quality education.</a:t>
            </a:r>
          </a:p>
          <a:p>
            <a:pPr lvl="0" algn="just"/>
            <a:r>
              <a:rPr lang="en-US" sz="1800" dirty="0">
                <a:solidFill>
                  <a:schemeClr val="tx1"/>
                </a:solidFill>
                <a:latin typeface="Times New Roman" pitchFamily="18" charset="0"/>
                <a:cs typeface="Times New Roman" pitchFamily="18" charset="0"/>
              </a:rPr>
              <a:t>Nurture innovative concepts and problem solving skills.</a:t>
            </a:r>
          </a:p>
          <a:p>
            <a:pPr lvl="0" algn="just"/>
            <a:r>
              <a:rPr lang="en-US" sz="1800" dirty="0">
                <a:solidFill>
                  <a:schemeClr val="tx1"/>
                </a:solidFill>
                <a:latin typeface="Times New Roman" pitchFamily="18" charset="0"/>
                <a:cs typeface="Times New Roman" pitchFamily="18" charset="0"/>
              </a:rPr>
              <a:t>Delivering Professional Engineers to meet the societal needs.</a:t>
            </a:r>
          </a:p>
          <a:p>
            <a:pPr fontAlgn="b"/>
            <a:endParaRPr lang="en-US" b="1" u="sng" dirty="0">
              <a:solidFill>
                <a:srgbClr val="0070C0"/>
              </a:solidFill>
              <a:latin typeface="Times New Roman" pitchFamily="18" charset="0"/>
              <a:cs typeface="Times New Roman" pitchFamily="18" charset="0"/>
            </a:endParaRPr>
          </a:p>
        </p:txBody>
      </p:sp>
      <p:sp>
        <p:nvSpPr>
          <p:cNvPr id="13" name="Rectangle 12"/>
          <p:cNvSpPr/>
          <p:nvPr/>
        </p:nvSpPr>
        <p:spPr>
          <a:xfrm>
            <a:off x="1749387" y="2545680"/>
            <a:ext cx="8693224" cy="1980230"/>
          </a:xfrm>
          <a:prstGeom prst="rect">
            <a:avLst/>
          </a:prstGeom>
          <a:solidFill>
            <a:schemeClr val="bg2">
              <a:lumMod val="90000"/>
            </a:schemeClr>
          </a:solidFill>
          <a:ln w="3175">
            <a:solidFill>
              <a:schemeClr val="tx2">
                <a:lumMod val="60000"/>
                <a:lumOff val="40000"/>
              </a:schemeClr>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b"/>
            <a:r>
              <a:rPr lang="en-US" b="1" u="sng" dirty="0">
                <a:solidFill>
                  <a:srgbClr val="0070C0"/>
                </a:solidFill>
                <a:latin typeface="Times New Roman" pitchFamily="18" charset="0"/>
                <a:cs typeface="Times New Roman" pitchFamily="18" charset="0"/>
              </a:rPr>
              <a:t>PEOs: </a:t>
            </a:r>
          </a:p>
          <a:p>
            <a:pPr algn="just" fontAlgn="b"/>
            <a:r>
              <a:rPr lang="en-US" sz="1800" dirty="0">
                <a:solidFill>
                  <a:schemeClr val="tx1"/>
                </a:solidFill>
                <a:latin typeface="Times New Roman" pitchFamily="18" charset="0"/>
                <a:cs typeface="Times New Roman" pitchFamily="18" charset="0"/>
              </a:rPr>
              <a:t>Prepare graduates to be professionals, practicing engineers, and entrepreneurs in the field of Electronics and Communication. Acquire sufficient knowledge for innovative techniques in the design and development of systems, and compete globally in multidisciplinary fields. Achieve personal and professional success with awareness and commitment to ethical and social responsibilities, both individually and as a team. Graduates will maintain and improve technical competence through continuous learning.</a:t>
            </a:r>
            <a:endParaRPr lang="en-US" sz="1800" b="1" u="sng" dirty="0">
              <a:solidFill>
                <a:schemeClr val="tx1"/>
              </a:solidFill>
              <a:latin typeface="Times New Roman" pitchFamily="18" charset="0"/>
              <a:cs typeface="Times New Roman" pitchFamily="18" charset="0"/>
            </a:endParaRPr>
          </a:p>
          <a:p>
            <a:pPr fontAlgn="b"/>
            <a:endParaRPr lang="en-US" b="1" u="sng" dirty="0">
              <a:solidFill>
                <a:srgbClr val="0070C0"/>
              </a:solidFill>
              <a:latin typeface="Times New Roman" pitchFamily="18" charset="0"/>
              <a:cs typeface="Times New Roman" pitchFamily="18" charset="0"/>
            </a:endParaRPr>
          </a:p>
        </p:txBody>
      </p:sp>
      <p:sp>
        <p:nvSpPr>
          <p:cNvPr id="14" name="Rectangle 13"/>
          <p:cNvSpPr/>
          <p:nvPr/>
        </p:nvSpPr>
        <p:spPr>
          <a:xfrm>
            <a:off x="1749387" y="4560449"/>
            <a:ext cx="8693224" cy="1980229"/>
          </a:xfrm>
          <a:prstGeom prst="rect">
            <a:avLst/>
          </a:prstGeom>
          <a:solidFill>
            <a:schemeClr val="bg2">
              <a:lumMod val="90000"/>
            </a:schemeClr>
          </a:solidFill>
          <a:ln w="3175">
            <a:solidFill>
              <a:schemeClr val="tx2">
                <a:lumMod val="60000"/>
                <a:lumOff val="40000"/>
              </a:schemeClr>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b"/>
            <a:r>
              <a:rPr lang="en-US" b="1" u="sng" dirty="0">
                <a:solidFill>
                  <a:srgbClr val="0070C0"/>
                </a:solidFill>
                <a:latin typeface="Times New Roman" pitchFamily="18" charset="0"/>
                <a:cs typeface="Times New Roman" pitchFamily="18" charset="0"/>
              </a:rPr>
              <a:t>PSOs:</a:t>
            </a:r>
          </a:p>
          <a:p>
            <a:pPr algn="just"/>
            <a:r>
              <a:rPr lang="en-US" sz="1800" dirty="0">
                <a:solidFill>
                  <a:schemeClr val="tx1"/>
                </a:solidFill>
                <a:latin typeface="Times New Roman" panose="02020603050405020304" pitchFamily="18" charset="0"/>
                <a:cs typeface="Times New Roman" panose="02020603050405020304" pitchFamily="18" charset="0"/>
              </a:rPr>
              <a:t>PSO1: Core Engineering: The graduates will be able to apply the principles of Electronics and Communication in core areas.</a:t>
            </a:r>
          </a:p>
          <a:p>
            <a:pPr algn="just"/>
            <a:r>
              <a:rPr lang="en-US" sz="1800" dirty="0">
                <a:solidFill>
                  <a:schemeClr val="tx1"/>
                </a:solidFill>
                <a:latin typeface="Times New Roman" panose="02020603050405020304" pitchFamily="18" charset="0"/>
                <a:cs typeface="Times New Roman" panose="02020603050405020304" pitchFamily="18" charset="0"/>
              </a:rPr>
              <a:t>PSO2: Soft Skills: An ability to use latest hardware and software tools in Electronics and Communication engineering.</a:t>
            </a:r>
          </a:p>
          <a:p>
            <a:pPr algn="just"/>
            <a:r>
              <a:rPr lang="en-US" sz="1800" dirty="0">
                <a:solidFill>
                  <a:schemeClr val="tx1"/>
                </a:solidFill>
                <a:latin typeface="Times New Roman" panose="02020603050405020304" pitchFamily="18" charset="0"/>
                <a:cs typeface="Times New Roman" panose="02020603050405020304" pitchFamily="18" charset="0"/>
              </a:rPr>
              <a:t>PSO3: Successful Career: Preparing Graduates to satisfy industrial needs and pursue higher studies with social-awareness and universal moral values.</a:t>
            </a:r>
            <a:endParaRPr lang="en-US" sz="1800" u="sng" dirty="0">
              <a:solidFill>
                <a:schemeClr val="tx1"/>
              </a:solidFill>
              <a:latin typeface="Times New Roman" panose="02020603050405020304" pitchFamily="18" charset="0"/>
              <a:cs typeface="Times New Roman" pitchFamily="18" charset="0"/>
            </a:endParaRPr>
          </a:p>
          <a:p>
            <a:pPr fontAlgn="b"/>
            <a:endParaRPr lang="en-US" b="1" u="sng" dirty="0">
              <a:solidFill>
                <a:srgbClr val="0070C0"/>
              </a:solidFill>
              <a:latin typeface="Times New Roman" pitchFamily="18" charset="0"/>
              <a:cs typeface="Times New Roman" pitchFamily="18" charset="0"/>
            </a:endParaRPr>
          </a:p>
        </p:txBody>
      </p:sp>
      <p:pic>
        <p:nvPicPr>
          <p:cNvPr id="2" name="Picture 4" descr="352397-vtu-logo - Kollege Times">
            <a:extLst>
              <a:ext uri="{FF2B5EF4-FFF2-40B4-BE49-F238E27FC236}">
                <a16:creationId xmlns:a16="http://schemas.microsoft.com/office/drawing/2014/main" id="{026192AF-6C70-CF2B-C021-E32ED7F218F9}"/>
              </a:ext>
            </a:extLst>
          </p:cNvPr>
          <p:cNvPicPr>
            <a:picLocks noChangeAspect="1" noChangeArrowheads="1"/>
          </p:cNvPicPr>
          <p:nvPr/>
        </p:nvPicPr>
        <p:blipFill>
          <a:blip r:embed="rId3" cstate="print"/>
          <a:srcRect/>
          <a:stretch>
            <a:fillRect/>
          </a:stretch>
        </p:blipFill>
        <p:spPr bwMode="auto">
          <a:xfrm>
            <a:off x="0" y="5784631"/>
            <a:ext cx="793630" cy="696527"/>
          </a:xfrm>
          <a:prstGeom prst="rect">
            <a:avLst/>
          </a:prstGeom>
          <a:noFill/>
        </p:spPr>
      </p:pic>
    </p:spTree>
    <p:extLst>
      <p:ext uri="{BB962C8B-B14F-4D97-AF65-F5344CB8AC3E}">
        <p14:creationId xmlns:p14="http://schemas.microsoft.com/office/powerpoint/2010/main" val="1019021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838930686"/>
              </p:ext>
            </p:extLst>
          </p:nvPr>
        </p:nvGraphicFramePr>
        <p:xfrm>
          <a:off x="1819001" y="0"/>
          <a:ext cx="7776864" cy="375285"/>
        </p:xfrm>
        <a:graphic>
          <a:graphicData uri="http://schemas.openxmlformats.org/drawingml/2006/table">
            <a:tbl>
              <a:tblPr>
                <a:effectLst>
                  <a:outerShdw blurRad="50800" dist="38100" algn="l" rotWithShape="0">
                    <a:prstClr val="black">
                      <a:alpha val="40000"/>
                    </a:prstClr>
                  </a:outerShdw>
                </a:effectLst>
                <a:tableStyleId>{5C22544A-7EE6-4342-B048-85BDC9FD1C3A}</a:tableStyleId>
              </a:tblPr>
              <a:tblGrid>
                <a:gridCol w="7776864">
                  <a:extLst>
                    <a:ext uri="{9D8B030D-6E8A-4147-A177-3AD203B41FA5}">
                      <a16:colId xmlns:a16="http://schemas.microsoft.com/office/drawing/2014/main" val="20000"/>
                    </a:ext>
                  </a:extLst>
                </a:gridCol>
              </a:tblGrid>
              <a:tr h="360040">
                <a:tc>
                  <a:txBody>
                    <a:bodyPr/>
                    <a:lstStyle/>
                    <a:p>
                      <a:pPr algn="ctr" fontAlgn="b"/>
                      <a:r>
                        <a:rPr lang="en-US" sz="2400" b="1" u="none" strike="noStrike" dirty="0">
                          <a:effectLst/>
                          <a:latin typeface="Times New Roman" pitchFamily="18" charset="0"/>
                          <a:cs typeface="Times New Roman" pitchFamily="18" charset="0"/>
                        </a:rPr>
                        <a:t>Course Outcomes of Mini-Project</a:t>
                      </a:r>
                      <a:endParaRPr lang="en-US" sz="2400" b="1" i="0" u="none" strike="noStrike" dirty="0">
                        <a:solidFill>
                          <a:srgbClr val="000000"/>
                        </a:solidFill>
                        <a:effectLst/>
                        <a:latin typeface="Times New Roman" pitchFamily="18" charset="0"/>
                        <a:cs typeface="Times New Roman" pitchFamily="18" charset="0"/>
                      </a:endParaRPr>
                    </a:p>
                  </a:txBody>
                  <a:tcPr marL="9525" marR="9525" marT="9525" marB="0">
                    <a:solidFill>
                      <a:schemeClr val="tx2">
                        <a:lumMod val="40000"/>
                        <a:lumOff val="60000"/>
                      </a:schemeClr>
                    </a:solidFill>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308167425"/>
              </p:ext>
            </p:extLst>
          </p:nvPr>
        </p:nvGraphicFramePr>
        <p:xfrm>
          <a:off x="1891009" y="417452"/>
          <a:ext cx="8040782" cy="2855203"/>
        </p:xfrm>
        <a:graphic>
          <a:graphicData uri="http://schemas.openxmlformats.org/drawingml/2006/table">
            <a:tbl>
              <a:tblPr firstRow="1" bandRow="1">
                <a:effectLst>
                  <a:outerShdw blurRad="76200" dir="18900000" sy="23000" kx="-1200000" algn="bl" rotWithShape="0">
                    <a:prstClr val="black">
                      <a:alpha val="20000"/>
                    </a:prstClr>
                  </a:outerShdw>
                </a:effectLst>
                <a:tableStyleId>{5FD0F851-EC5A-4D38-B0AD-8093EC10F338}</a:tableStyleId>
              </a:tblPr>
              <a:tblGrid>
                <a:gridCol w="886037">
                  <a:extLst>
                    <a:ext uri="{9D8B030D-6E8A-4147-A177-3AD203B41FA5}">
                      <a16:colId xmlns:a16="http://schemas.microsoft.com/office/drawing/2014/main" val="20000"/>
                    </a:ext>
                  </a:extLst>
                </a:gridCol>
                <a:gridCol w="7154745">
                  <a:extLst>
                    <a:ext uri="{9D8B030D-6E8A-4147-A177-3AD203B41FA5}">
                      <a16:colId xmlns:a16="http://schemas.microsoft.com/office/drawing/2014/main" val="20001"/>
                    </a:ext>
                  </a:extLst>
                </a:gridCol>
              </a:tblGrid>
              <a:tr h="432048">
                <a:tc>
                  <a:txBody>
                    <a:bodyPr/>
                    <a:lstStyle/>
                    <a:p>
                      <a:pPr algn="ctr"/>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en-US" sz="1800" b="1" kern="1200" dirty="0">
                          <a:solidFill>
                            <a:schemeClr val="tx1"/>
                          </a:solidFill>
                          <a:latin typeface="+mn-lt"/>
                          <a:ea typeface="+mn-ea"/>
                          <a:cs typeface="+mn-cs"/>
                        </a:rPr>
                        <a:t>Ability to carry-out literature review and define the problem.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86931">
                <a:tc>
                  <a:txBody>
                    <a:bodyPr/>
                    <a:lstStyle/>
                    <a:p>
                      <a:pPr algn="ctr"/>
                      <a:r>
                        <a:rPr lang="en-US"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latin typeface="+mn-lt"/>
                          <a:ea typeface="+mn-ea"/>
                          <a:cs typeface="+mn-cs"/>
                        </a:rPr>
                        <a:t>Ability to co-ordinate to work as a team member or a single member.</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2048">
                <a:tc>
                  <a:txBody>
                    <a:bodyPr/>
                    <a:lstStyle/>
                    <a:p>
                      <a:pPr algn="ctr"/>
                      <a:r>
                        <a:rPr lang="en-US"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en-US" sz="1800" b="1" kern="1200" dirty="0">
                          <a:solidFill>
                            <a:schemeClr val="tx1"/>
                          </a:solidFill>
                          <a:latin typeface="+mn-lt"/>
                          <a:ea typeface="+mn-ea"/>
                          <a:cs typeface="+mn-cs"/>
                        </a:rPr>
                        <a:t>Inculcate methods to use advance tools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32048">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en-US" sz="1800" b="1" kern="1200" dirty="0">
                          <a:solidFill>
                            <a:schemeClr val="tx1"/>
                          </a:solidFill>
                          <a:latin typeface="+mn-lt"/>
                          <a:ea typeface="+mn-ea"/>
                          <a:cs typeface="+mn-cs"/>
                        </a:rPr>
                        <a:t>Design analytical modeling and develop a systems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32048">
                <a:tc>
                  <a:txBody>
                    <a:bodyPr/>
                    <a:lstStyle/>
                    <a:p>
                      <a:pPr algn="ctr"/>
                      <a:r>
                        <a:rPr lang="en-US"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en-US" sz="1800" b="1" kern="1200" dirty="0">
                          <a:solidFill>
                            <a:schemeClr val="tx1"/>
                          </a:solidFill>
                          <a:latin typeface="+mn-lt"/>
                          <a:ea typeface="+mn-ea"/>
                          <a:cs typeface="+mn-cs"/>
                        </a:rPr>
                        <a:t>Ability to equip analysis skills and interpretation.</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32048">
                <a:tc>
                  <a:txBody>
                    <a:bodyPr/>
                    <a:lstStyle/>
                    <a:p>
                      <a:pPr algn="ctr"/>
                      <a:r>
                        <a:rPr lang="en-US"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latin typeface="+mn-lt"/>
                          <a:ea typeface="+mn-ea"/>
                          <a:cs typeface="+mn-cs"/>
                        </a:rPr>
                        <a:t>Enhance presentation skills, drafting  and documentation of project work.</a:t>
                      </a:r>
                    </a:p>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047730325"/>
              </p:ext>
            </p:extLst>
          </p:nvPr>
        </p:nvGraphicFramePr>
        <p:xfrm>
          <a:off x="1800665" y="3103204"/>
          <a:ext cx="8173329" cy="427861"/>
        </p:xfrm>
        <a:graphic>
          <a:graphicData uri="http://schemas.openxmlformats.org/drawingml/2006/table">
            <a:tbl>
              <a:tblPr>
                <a:effectLst>
                  <a:outerShdw blurRad="50800" dist="38100" dir="18900000" algn="bl" rotWithShape="0">
                    <a:prstClr val="black">
                      <a:alpha val="40000"/>
                    </a:prstClr>
                  </a:outerShdw>
                </a:effectLst>
                <a:tableStyleId>{5C22544A-7EE6-4342-B048-85BDC9FD1C3A}</a:tableStyleId>
              </a:tblPr>
              <a:tblGrid>
                <a:gridCol w="8173329">
                  <a:extLst>
                    <a:ext uri="{9D8B030D-6E8A-4147-A177-3AD203B41FA5}">
                      <a16:colId xmlns:a16="http://schemas.microsoft.com/office/drawing/2014/main" val="20000"/>
                    </a:ext>
                  </a:extLst>
                </a:gridCol>
              </a:tblGrid>
              <a:tr h="427861">
                <a:tc>
                  <a:txBody>
                    <a:bodyPr/>
                    <a:lstStyle/>
                    <a:p>
                      <a:pPr algn="ctr" fontAlgn="b"/>
                      <a:r>
                        <a:rPr lang="en-US" sz="2000" b="1" u="none" strike="noStrike" dirty="0">
                          <a:effectLst/>
                          <a:latin typeface="Times New Roman" pitchFamily="18" charset="0"/>
                          <a:cs typeface="Times New Roman" pitchFamily="18" charset="0"/>
                        </a:rPr>
                        <a:t>CO-PO Mapping Table</a:t>
                      </a:r>
                      <a:endParaRPr lang="en-US" sz="2000" b="1" i="0" u="none" strike="noStrike" dirty="0">
                        <a:solidFill>
                          <a:srgbClr val="000000"/>
                        </a:solidFill>
                        <a:effectLst/>
                        <a:latin typeface="Times New Roman" pitchFamily="18" charset="0"/>
                        <a:cs typeface="Times New Roman" pitchFamily="18" charset="0"/>
                      </a:endParaRPr>
                    </a:p>
                  </a:txBody>
                  <a:tcPr marL="9525" marR="9525" marT="9525" marB="0" anchor="ctr">
                    <a:solidFill>
                      <a:schemeClr val="tx2">
                        <a:lumMod val="40000"/>
                        <a:lumOff val="60000"/>
                      </a:schemeClr>
                    </a:solidFill>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267017663"/>
              </p:ext>
            </p:extLst>
          </p:nvPr>
        </p:nvGraphicFramePr>
        <p:xfrm>
          <a:off x="1372176" y="3508786"/>
          <a:ext cx="9164528" cy="2865120"/>
        </p:xfrm>
        <a:graphic>
          <a:graphicData uri="http://schemas.openxmlformats.org/drawingml/2006/table">
            <a:tbl>
              <a:tblPr firstRow="1" bandRow="1">
                <a:tableStyleId>{68D230F3-CF80-4859-8CE7-A43EE81993B5}</a:tableStyleId>
              </a:tblPr>
              <a:tblGrid>
                <a:gridCol w="572783">
                  <a:extLst>
                    <a:ext uri="{9D8B030D-6E8A-4147-A177-3AD203B41FA5}">
                      <a16:colId xmlns:a16="http://schemas.microsoft.com/office/drawing/2014/main" val="20000"/>
                    </a:ext>
                  </a:extLst>
                </a:gridCol>
                <a:gridCol w="572783">
                  <a:extLst>
                    <a:ext uri="{9D8B030D-6E8A-4147-A177-3AD203B41FA5}">
                      <a16:colId xmlns:a16="http://schemas.microsoft.com/office/drawing/2014/main" val="20001"/>
                    </a:ext>
                  </a:extLst>
                </a:gridCol>
                <a:gridCol w="572783">
                  <a:extLst>
                    <a:ext uri="{9D8B030D-6E8A-4147-A177-3AD203B41FA5}">
                      <a16:colId xmlns:a16="http://schemas.microsoft.com/office/drawing/2014/main" val="20002"/>
                    </a:ext>
                  </a:extLst>
                </a:gridCol>
                <a:gridCol w="572783">
                  <a:extLst>
                    <a:ext uri="{9D8B030D-6E8A-4147-A177-3AD203B41FA5}">
                      <a16:colId xmlns:a16="http://schemas.microsoft.com/office/drawing/2014/main" val="20003"/>
                    </a:ext>
                  </a:extLst>
                </a:gridCol>
                <a:gridCol w="572783">
                  <a:extLst>
                    <a:ext uri="{9D8B030D-6E8A-4147-A177-3AD203B41FA5}">
                      <a16:colId xmlns:a16="http://schemas.microsoft.com/office/drawing/2014/main" val="20004"/>
                    </a:ext>
                  </a:extLst>
                </a:gridCol>
                <a:gridCol w="572783">
                  <a:extLst>
                    <a:ext uri="{9D8B030D-6E8A-4147-A177-3AD203B41FA5}">
                      <a16:colId xmlns:a16="http://schemas.microsoft.com/office/drawing/2014/main" val="20005"/>
                    </a:ext>
                  </a:extLst>
                </a:gridCol>
                <a:gridCol w="572783">
                  <a:extLst>
                    <a:ext uri="{9D8B030D-6E8A-4147-A177-3AD203B41FA5}">
                      <a16:colId xmlns:a16="http://schemas.microsoft.com/office/drawing/2014/main" val="20006"/>
                    </a:ext>
                  </a:extLst>
                </a:gridCol>
                <a:gridCol w="572783">
                  <a:extLst>
                    <a:ext uri="{9D8B030D-6E8A-4147-A177-3AD203B41FA5}">
                      <a16:colId xmlns:a16="http://schemas.microsoft.com/office/drawing/2014/main" val="20007"/>
                    </a:ext>
                  </a:extLst>
                </a:gridCol>
                <a:gridCol w="572783">
                  <a:extLst>
                    <a:ext uri="{9D8B030D-6E8A-4147-A177-3AD203B41FA5}">
                      <a16:colId xmlns:a16="http://schemas.microsoft.com/office/drawing/2014/main" val="20008"/>
                    </a:ext>
                  </a:extLst>
                </a:gridCol>
                <a:gridCol w="572783">
                  <a:extLst>
                    <a:ext uri="{9D8B030D-6E8A-4147-A177-3AD203B41FA5}">
                      <a16:colId xmlns:a16="http://schemas.microsoft.com/office/drawing/2014/main" val="20009"/>
                    </a:ext>
                  </a:extLst>
                </a:gridCol>
                <a:gridCol w="572783">
                  <a:extLst>
                    <a:ext uri="{9D8B030D-6E8A-4147-A177-3AD203B41FA5}">
                      <a16:colId xmlns:a16="http://schemas.microsoft.com/office/drawing/2014/main" val="20010"/>
                    </a:ext>
                  </a:extLst>
                </a:gridCol>
                <a:gridCol w="572783">
                  <a:extLst>
                    <a:ext uri="{9D8B030D-6E8A-4147-A177-3AD203B41FA5}">
                      <a16:colId xmlns:a16="http://schemas.microsoft.com/office/drawing/2014/main" val="20011"/>
                    </a:ext>
                  </a:extLst>
                </a:gridCol>
                <a:gridCol w="572783">
                  <a:extLst>
                    <a:ext uri="{9D8B030D-6E8A-4147-A177-3AD203B41FA5}">
                      <a16:colId xmlns:a16="http://schemas.microsoft.com/office/drawing/2014/main" val="20012"/>
                    </a:ext>
                  </a:extLst>
                </a:gridCol>
                <a:gridCol w="572783">
                  <a:extLst>
                    <a:ext uri="{9D8B030D-6E8A-4147-A177-3AD203B41FA5}">
                      <a16:colId xmlns:a16="http://schemas.microsoft.com/office/drawing/2014/main" val="20013"/>
                    </a:ext>
                  </a:extLst>
                </a:gridCol>
                <a:gridCol w="572783">
                  <a:extLst>
                    <a:ext uri="{9D8B030D-6E8A-4147-A177-3AD203B41FA5}">
                      <a16:colId xmlns:a16="http://schemas.microsoft.com/office/drawing/2014/main" val="20014"/>
                    </a:ext>
                  </a:extLst>
                </a:gridCol>
                <a:gridCol w="572783">
                  <a:extLst>
                    <a:ext uri="{9D8B030D-6E8A-4147-A177-3AD203B41FA5}">
                      <a16:colId xmlns:a16="http://schemas.microsoft.com/office/drawing/2014/main" val="20015"/>
                    </a:ext>
                  </a:extLst>
                </a:gridCol>
              </a:tblGrid>
              <a:tr h="370840">
                <a:tc>
                  <a:txBody>
                    <a:bodyPr/>
                    <a:lstStyle/>
                    <a:p>
                      <a:r>
                        <a:rPr lang="en-US" sz="1400" dirty="0"/>
                        <a:t>   PO</a:t>
                      </a:r>
                    </a:p>
                    <a:p>
                      <a:r>
                        <a:rPr lang="en-US" sz="1400" dirty="0"/>
                        <a:t>CO</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a:r>
                        <a:rPr lang="en-US"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4</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5</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6</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7</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8</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9</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10</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11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12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PSO</a:t>
                      </a:r>
                    </a:p>
                    <a:p>
                      <a:pPr algn="ctr"/>
                      <a:r>
                        <a:rPr lang="en-US" dirty="0"/>
                        <a:t>   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PSO</a:t>
                      </a:r>
                    </a:p>
                    <a:p>
                      <a:pPr algn="ctr"/>
                      <a:r>
                        <a:rPr lang="en-US" dirty="0"/>
                        <a:t>   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PSO</a:t>
                      </a:r>
                    </a:p>
                    <a:p>
                      <a:pPr algn="ctr"/>
                      <a:r>
                        <a:rPr lang="en-US" dirty="0"/>
                        <a:t>   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endParaRPr lang="en-US"/>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endParaRPr lang="en-US"/>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endParaRPr lang="en-US"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b="1" dirty="0"/>
                        <a:t>4</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endParaRPr lang="en-US"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b="1" dirty="0"/>
                        <a:t>5</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endParaRPr lang="en-US"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US" b="1" dirty="0"/>
                        <a:t>6</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endParaRPr lang="en-US"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pic>
        <p:nvPicPr>
          <p:cNvPr id="2" name="Picture 4" descr="352397-vtu-logo - Kollege Times">
            <a:extLst>
              <a:ext uri="{FF2B5EF4-FFF2-40B4-BE49-F238E27FC236}">
                <a16:creationId xmlns:a16="http://schemas.microsoft.com/office/drawing/2014/main" id="{1CBF49D1-F269-4CDD-186C-A617D87951EC}"/>
              </a:ext>
            </a:extLst>
          </p:cNvPr>
          <p:cNvPicPr>
            <a:picLocks noChangeAspect="1" noChangeArrowheads="1"/>
          </p:cNvPicPr>
          <p:nvPr/>
        </p:nvPicPr>
        <p:blipFill>
          <a:blip r:embed="rId3" cstate="print"/>
          <a:srcRect/>
          <a:stretch>
            <a:fillRect/>
          </a:stretch>
        </p:blipFill>
        <p:spPr bwMode="auto">
          <a:xfrm>
            <a:off x="0" y="5784631"/>
            <a:ext cx="793630" cy="696527"/>
          </a:xfrm>
          <a:prstGeom prst="rect">
            <a:avLst/>
          </a:prstGeom>
          <a:noFill/>
        </p:spPr>
      </p:pic>
    </p:spTree>
    <p:extLst>
      <p:ext uri="{BB962C8B-B14F-4D97-AF65-F5344CB8AC3E}">
        <p14:creationId xmlns:p14="http://schemas.microsoft.com/office/powerpoint/2010/main" val="1019021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41914"/>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41914"/>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874029"/>
            <a:ext cx="609823" cy="633346"/>
          </a:xfrm>
          <a:prstGeom prst="rect">
            <a:avLst/>
          </a:prstGeom>
        </p:spPr>
      </p:pic>
      <p:sp>
        <p:nvSpPr>
          <p:cNvPr id="3" name="Title 1">
            <a:extLst>
              <a:ext uri="{FF2B5EF4-FFF2-40B4-BE49-F238E27FC236}">
                <a16:creationId xmlns:a16="http://schemas.microsoft.com/office/drawing/2014/main" id="{91A79288-7C32-284E-F9D5-6FA4D5A89DAB}"/>
              </a:ext>
            </a:extLst>
          </p:cNvPr>
          <p:cNvSpPr txBox="1">
            <a:spLocks/>
          </p:cNvSpPr>
          <p:nvPr/>
        </p:nvSpPr>
        <p:spPr>
          <a:xfrm>
            <a:off x="0" y="0"/>
            <a:ext cx="12191999" cy="584705"/>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latin typeface="Cambria" panose="02040503050406030204" pitchFamily="18" charset="0"/>
              </a:rPr>
              <a:t>  </a:t>
            </a:r>
            <a:r>
              <a:rPr lang="en-IN" sz="2800" b="1" dirty="0">
                <a:solidFill>
                  <a:schemeClr val="bg1"/>
                </a:solidFill>
                <a:latin typeface="Times New Roman" panose="02020603050405020304" pitchFamily="18" charset="0"/>
                <a:cs typeface="Times New Roman" panose="02020603050405020304" pitchFamily="18" charset="0"/>
              </a:rPr>
              <a:t>Abstract</a:t>
            </a:r>
            <a:endParaRPr lang="en-IN" sz="2000"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67F7763-9BBD-24CF-0D58-4C79655232DC}"/>
              </a:ext>
            </a:extLst>
          </p:cNvPr>
          <p:cNvSpPr txBox="1"/>
          <p:nvPr/>
        </p:nvSpPr>
        <p:spPr>
          <a:xfrm>
            <a:off x="500299" y="1240910"/>
            <a:ext cx="5748101" cy="2862322"/>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IoT sensor networks face </a:t>
            </a:r>
            <a:r>
              <a:rPr lang="en-IN" sz="2000" b="1" dirty="0">
                <a:latin typeface="Times New Roman" panose="02020603050405020304" pitchFamily="18" charset="0"/>
                <a:cs typeface="Times New Roman" panose="02020603050405020304" pitchFamily="18" charset="0"/>
              </a:rPr>
              <a:t>serious energy challenges</a:t>
            </a:r>
            <a:r>
              <a:rPr lang="en-IN" sz="2000" dirty="0">
                <a:latin typeface="Times New Roman" panose="02020603050405020304" pitchFamily="18" charset="0"/>
                <a:cs typeface="Times New Roman" panose="02020603050405020304" pitchFamily="18" charset="0"/>
              </a:rPr>
              <a:t> due to limited batteries.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Proposed project: an </a:t>
            </a:r>
            <a:r>
              <a:rPr lang="en-IN" sz="2000" b="1" dirty="0">
                <a:latin typeface="Times New Roman" panose="02020603050405020304" pitchFamily="18" charset="0"/>
                <a:cs typeface="Times New Roman" panose="02020603050405020304" pitchFamily="18" charset="0"/>
              </a:rPr>
              <a:t>AI-driven scheduler</a:t>
            </a:r>
            <a:r>
              <a:rPr lang="en-IN" sz="2000" dirty="0">
                <a:latin typeface="Times New Roman" panose="02020603050405020304" pitchFamily="18" charset="0"/>
                <a:cs typeface="Times New Roman" panose="02020603050405020304" pitchFamily="18" charset="0"/>
              </a:rPr>
              <a:t> that optimizes node sleep/wake cycles and transmissions.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Implemented in MATLAB with RL models.</a:t>
            </a:r>
          </a:p>
          <a:p>
            <a:r>
              <a:rPr lang="en-IN" sz="2000" dirty="0">
                <a:latin typeface="Times New Roman" panose="02020603050405020304" pitchFamily="18" charset="0"/>
                <a:cs typeface="Times New Roman" panose="02020603050405020304" pitchFamily="18" charset="0"/>
              </a:rPr>
              <a:t>Expected impact: reduce energy waste, extend lifetime, and support green-tech sustainability.</a:t>
            </a:r>
          </a:p>
        </p:txBody>
      </p:sp>
      <p:pic>
        <p:nvPicPr>
          <p:cNvPr id="2" name="Picture 4" descr="352397-vtu-logo - Kollege Times">
            <a:extLst>
              <a:ext uri="{FF2B5EF4-FFF2-40B4-BE49-F238E27FC236}">
                <a16:creationId xmlns:a16="http://schemas.microsoft.com/office/drawing/2014/main" id="{3C239D4D-D4EF-8235-28F7-255E6EDF4AB5}"/>
              </a:ext>
            </a:extLst>
          </p:cNvPr>
          <p:cNvPicPr>
            <a:picLocks noChangeAspect="1" noChangeArrowheads="1"/>
          </p:cNvPicPr>
          <p:nvPr/>
        </p:nvPicPr>
        <p:blipFill>
          <a:blip r:embed="rId3" cstate="print"/>
          <a:srcRect/>
          <a:stretch>
            <a:fillRect/>
          </a:stretch>
        </p:blipFill>
        <p:spPr bwMode="auto">
          <a:xfrm>
            <a:off x="0" y="5751328"/>
            <a:ext cx="793630" cy="696527"/>
          </a:xfrm>
          <a:prstGeom prst="rect">
            <a:avLst/>
          </a:prstGeom>
          <a:noFill/>
        </p:spPr>
      </p:pic>
      <p:sp>
        <p:nvSpPr>
          <p:cNvPr id="4" name="AutoShape 2" descr="AI Security Camera Person Intrusion Detection Setup">
            <a:extLst>
              <a:ext uri="{FF2B5EF4-FFF2-40B4-BE49-F238E27FC236}">
                <a16:creationId xmlns:a16="http://schemas.microsoft.com/office/drawing/2014/main" id="{119389AC-BCE9-B932-32DE-2EB63F7DA6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6" name="Picture 2" descr="Edge Network Optimization Based on AI Techniques: A Survey">
            <a:extLst>
              <a:ext uri="{FF2B5EF4-FFF2-40B4-BE49-F238E27FC236}">
                <a16:creationId xmlns:a16="http://schemas.microsoft.com/office/drawing/2014/main" id="{7EBD17F8-C811-2FA0-78C5-532C48946B4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8400" y="1150453"/>
            <a:ext cx="5806723" cy="3043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9021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AD5FA-31AF-69A4-2799-55BB095BA05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8185B3E-170B-63CA-43C5-97A8FC9F54BF}"/>
              </a:ext>
            </a:extLst>
          </p:cNvPr>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73048C74-150E-3945-FD07-9004A15A414A}"/>
              </a:ext>
            </a:extLst>
          </p:cNvPr>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97E0699D-909F-9832-71B7-198580FA49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graphicFrame>
        <p:nvGraphicFramePr>
          <p:cNvPr id="4" name="Table 3">
            <a:extLst>
              <a:ext uri="{FF2B5EF4-FFF2-40B4-BE49-F238E27FC236}">
                <a16:creationId xmlns:a16="http://schemas.microsoft.com/office/drawing/2014/main" id="{2B184CC9-7A68-0B79-35D1-A2EB5C8022BA}"/>
              </a:ext>
            </a:extLst>
          </p:cNvPr>
          <p:cNvGraphicFramePr>
            <a:graphicFrameLocks noGrp="1"/>
          </p:cNvGraphicFramePr>
          <p:nvPr>
            <p:extLst>
              <p:ext uri="{D42A27DB-BD31-4B8C-83A1-F6EECF244321}">
                <p14:modId xmlns:p14="http://schemas.microsoft.com/office/powerpoint/2010/main" val="1871253786"/>
              </p:ext>
            </p:extLst>
          </p:nvPr>
        </p:nvGraphicFramePr>
        <p:xfrm>
          <a:off x="617743" y="908014"/>
          <a:ext cx="10754637" cy="4709312"/>
        </p:xfrm>
        <a:graphic>
          <a:graphicData uri="http://schemas.openxmlformats.org/drawingml/2006/table">
            <a:tbl>
              <a:tblPr firstRow="1" bandRow="1">
                <a:tableStyleId>{5C22544A-7EE6-4342-B048-85BDC9FD1C3A}</a:tableStyleId>
              </a:tblPr>
              <a:tblGrid>
                <a:gridCol w="3145735">
                  <a:extLst>
                    <a:ext uri="{9D8B030D-6E8A-4147-A177-3AD203B41FA5}">
                      <a16:colId xmlns:a16="http://schemas.microsoft.com/office/drawing/2014/main" val="1866160344"/>
                    </a:ext>
                  </a:extLst>
                </a:gridCol>
                <a:gridCol w="4861257">
                  <a:extLst>
                    <a:ext uri="{9D8B030D-6E8A-4147-A177-3AD203B41FA5}">
                      <a16:colId xmlns:a16="http://schemas.microsoft.com/office/drawing/2014/main" val="871532580"/>
                    </a:ext>
                  </a:extLst>
                </a:gridCol>
                <a:gridCol w="2747645">
                  <a:extLst>
                    <a:ext uri="{9D8B030D-6E8A-4147-A177-3AD203B41FA5}">
                      <a16:colId xmlns:a16="http://schemas.microsoft.com/office/drawing/2014/main" val="808512054"/>
                    </a:ext>
                  </a:extLst>
                </a:gridCol>
              </a:tblGrid>
              <a:tr h="647792">
                <a:tc>
                  <a:txBody>
                    <a:bodyPr/>
                    <a:lstStyle/>
                    <a:p>
                      <a:pPr algn="ctr"/>
                      <a:r>
                        <a:rPr lang="en-US" sz="2400" dirty="0" err="1">
                          <a:latin typeface="Times New Roman" panose="02020603050405020304" pitchFamily="18" charset="0"/>
                          <a:cs typeface="Times New Roman" panose="02020603050405020304" pitchFamily="18" charset="0"/>
                        </a:rPr>
                        <a:t>Sl</a:t>
                      </a:r>
                      <a:r>
                        <a:rPr lang="en-US" sz="2400" dirty="0">
                          <a:latin typeface="Times New Roman" panose="02020603050405020304" pitchFamily="18" charset="0"/>
                          <a:cs typeface="Times New Roman" panose="02020603050405020304" pitchFamily="18" charset="0"/>
                        </a:rPr>
                        <a:t> No.</a:t>
                      </a:r>
                      <a:endParaRPr lang="en-IN" sz="2400" dirty="0">
                        <a:latin typeface="Times New Roman" panose="02020603050405020304" pitchFamily="18" charset="0"/>
                        <a:cs typeface="Times New Roman" panose="02020603050405020304" pitchFamily="18" charset="0"/>
                      </a:endParaRPr>
                    </a:p>
                  </a:txBody>
                  <a:tcPr>
                    <a:solidFill>
                      <a:schemeClr val="accent2">
                        <a:lumMod val="50000"/>
                      </a:schemeClr>
                    </a:solidFill>
                  </a:tcPr>
                </a:tc>
                <a:tc>
                  <a:txBody>
                    <a:bodyPr/>
                    <a:lstStyle/>
                    <a:p>
                      <a:pPr algn="ctr"/>
                      <a:r>
                        <a:rPr lang="en-US" sz="2400" dirty="0">
                          <a:latin typeface="Times New Roman" panose="02020603050405020304" pitchFamily="18" charset="0"/>
                          <a:cs typeface="Times New Roman" panose="02020603050405020304" pitchFamily="18" charset="0"/>
                        </a:rPr>
                        <a:t>Topic</a:t>
                      </a:r>
                      <a:endParaRPr lang="en-IN" sz="2400" dirty="0">
                        <a:latin typeface="Times New Roman" panose="02020603050405020304" pitchFamily="18" charset="0"/>
                        <a:cs typeface="Times New Roman" panose="02020603050405020304" pitchFamily="18" charset="0"/>
                      </a:endParaRPr>
                    </a:p>
                  </a:txBody>
                  <a:tcPr>
                    <a:solidFill>
                      <a:schemeClr val="accent2">
                        <a:lumMod val="50000"/>
                      </a:schemeClr>
                    </a:solidFill>
                  </a:tcPr>
                </a:tc>
                <a:tc>
                  <a:txBody>
                    <a:bodyPr/>
                    <a:lstStyle/>
                    <a:p>
                      <a:pPr algn="ctr"/>
                      <a:r>
                        <a:rPr lang="en-US" sz="2400" dirty="0">
                          <a:latin typeface="Times New Roman" panose="02020603050405020304" pitchFamily="18" charset="0"/>
                          <a:cs typeface="Times New Roman" panose="02020603050405020304" pitchFamily="18" charset="0"/>
                        </a:rPr>
                        <a:t>Slide No.</a:t>
                      </a:r>
                      <a:endParaRPr lang="en-IN" sz="2400" dirty="0">
                        <a:latin typeface="Times New Roman" panose="02020603050405020304" pitchFamily="18" charset="0"/>
                        <a:cs typeface="Times New Roman" panose="02020603050405020304" pitchFamily="18" charset="0"/>
                      </a:endParaRPr>
                    </a:p>
                  </a:txBody>
                  <a:tcPr>
                    <a:solidFill>
                      <a:schemeClr val="accent2">
                        <a:lumMod val="50000"/>
                      </a:schemeClr>
                    </a:solidFill>
                  </a:tcPr>
                </a:tc>
                <a:extLst>
                  <a:ext uri="{0D108BD9-81ED-4DB2-BD59-A6C34878D82A}">
                    <a16:rowId xmlns:a16="http://schemas.microsoft.com/office/drawing/2014/main" val="688715279"/>
                  </a:ext>
                </a:extLst>
              </a:tr>
              <a:tr h="470130">
                <a:tc>
                  <a:txBody>
                    <a:bodyPr/>
                    <a:lstStyle/>
                    <a:p>
                      <a:pPr algn="ctr"/>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extLst>
                  <a:ext uri="{0D108BD9-81ED-4DB2-BD59-A6C34878D82A}">
                    <a16:rowId xmlns:a16="http://schemas.microsoft.com/office/drawing/2014/main" val="132844120"/>
                  </a:ext>
                </a:extLst>
              </a:tr>
              <a:tr h="530594">
                <a:tc>
                  <a:txBody>
                    <a:bodyPr/>
                    <a:lstStyle/>
                    <a:p>
                      <a:pPr algn="ctr"/>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l"/>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dirty="0">
                          <a:latin typeface="Times New Roman" panose="02020603050405020304" pitchFamily="18" charset="0"/>
                          <a:cs typeface="Times New Roman" panose="02020603050405020304" pitchFamily="18" charset="0"/>
                        </a:rPr>
                        <a:t>8-9</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extLst>
                  <a:ext uri="{0D108BD9-81ED-4DB2-BD59-A6C34878D82A}">
                    <a16:rowId xmlns:a16="http://schemas.microsoft.com/office/drawing/2014/main" val="262323246"/>
                  </a:ext>
                </a:extLst>
              </a:tr>
              <a:tr h="470130">
                <a:tc>
                  <a:txBody>
                    <a:bodyPr/>
                    <a:lstStyle/>
                    <a:p>
                      <a:pPr algn="ctr"/>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l"/>
                      <a:r>
                        <a:rPr lang="en-US" dirty="0">
                          <a:latin typeface="Times New Roman" panose="02020603050405020304" pitchFamily="18" charset="0"/>
                          <a:cs typeface="Times New Roman" panose="02020603050405020304" pitchFamily="18" charset="0"/>
                        </a:rPr>
                        <a:t>Objective</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extLst>
                  <a:ext uri="{0D108BD9-81ED-4DB2-BD59-A6C34878D82A}">
                    <a16:rowId xmlns:a16="http://schemas.microsoft.com/office/drawing/2014/main" val="4158912090"/>
                  </a:ext>
                </a:extLst>
              </a:tr>
              <a:tr h="470130">
                <a:tc>
                  <a:txBody>
                    <a:bodyPr/>
                    <a:lstStyle/>
                    <a:p>
                      <a:pPr algn="ctr"/>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l"/>
                      <a:r>
                        <a:rPr lang="en-US"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dirty="0">
                          <a:latin typeface="Times New Roman" panose="02020603050405020304" pitchFamily="18" charset="0"/>
                          <a:cs typeface="Times New Roman" panose="02020603050405020304" pitchFamily="18" charset="0"/>
                        </a:rPr>
                        <a:t>11</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extLst>
                  <a:ext uri="{0D108BD9-81ED-4DB2-BD59-A6C34878D82A}">
                    <a16:rowId xmlns:a16="http://schemas.microsoft.com/office/drawing/2014/main" val="1495810176"/>
                  </a:ext>
                </a:extLst>
              </a:tr>
              <a:tr h="716586">
                <a:tc>
                  <a:txBody>
                    <a:bodyPr/>
                    <a:lstStyle/>
                    <a:p>
                      <a:pPr algn="ctr"/>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r>
                        <a:rPr lang="en-IN" dirty="0"/>
                        <a:t>Hardware &amp; Software Requirements</a:t>
                      </a:r>
                    </a:p>
                  </a:txBody>
                  <a:tcPr>
                    <a:solidFill>
                      <a:schemeClr val="accent2">
                        <a:lumMod val="40000"/>
                        <a:lumOff val="60000"/>
                      </a:schemeClr>
                    </a:solidFill>
                  </a:tcPr>
                </a:tc>
                <a:tc>
                  <a:txBody>
                    <a:bodyPr/>
                    <a:lstStyle/>
                    <a:p>
                      <a:pPr algn="ctr"/>
                      <a:r>
                        <a:rPr lang="en-US" dirty="0">
                          <a:latin typeface="Times New Roman" panose="02020603050405020304" pitchFamily="18" charset="0"/>
                          <a:cs typeface="Times New Roman" panose="02020603050405020304" pitchFamily="18" charset="0"/>
                        </a:rPr>
                        <a:t>12</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extLst>
                  <a:ext uri="{0D108BD9-81ED-4DB2-BD59-A6C34878D82A}">
                    <a16:rowId xmlns:a16="http://schemas.microsoft.com/office/drawing/2014/main" val="792885123"/>
                  </a:ext>
                </a:extLst>
              </a:tr>
              <a:tr h="463690">
                <a:tc>
                  <a:txBody>
                    <a:bodyPr/>
                    <a:lstStyle/>
                    <a:p>
                      <a:pPr algn="ctr"/>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Block Diagram / Designed System</a:t>
                      </a:r>
                      <a:endParaRPr lang="en-IN" sz="1800" b="0" dirty="0">
                        <a:solidFill>
                          <a:schemeClr val="tx1"/>
                        </a:solidFill>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dirty="0">
                          <a:latin typeface="Times New Roman" panose="02020603050405020304" pitchFamily="18" charset="0"/>
                          <a:cs typeface="Times New Roman" panose="02020603050405020304" pitchFamily="18" charset="0"/>
                        </a:rPr>
                        <a:t>13</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extLst>
                  <a:ext uri="{0D108BD9-81ED-4DB2-BD59-A6C34878D82A}">
                    <a16:rowId xmlns:a16="http://schemas.microsoft.com/office/drawing/2014/main" val="2913502963"/>
                  </a:ext>
                </a:extLst>
              </a:tr>
              <a:tr h="470130">
                <a:tc>
                  <a:txBody>
                    <a:bodyPr/>
                    <a:lstStyle/>
                    <a:p>
                      <a:pPr algn="ctr"/>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l"/>
                      <a:r>
                        <a:rPr lang="en-US" dirty="0">
                          <a:latin typeface="Times New Roman" panose="02020603050405020304" pitchFamily="18" charset="0"/>
                          <a:cs typeface="Times New Roman" panose="02020603050405020304" pitchFamily="18" charset="0"/>
                        </a:rPr>
                        <a:t>Expected Results</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dirty="0">
                          <a:latin typeface="Times New Roman" panose="02020603050405020304" pitchFamily="18" charset="0"/>
                          <a:cs typeface="Times New Roman" panose="02020603050405020304" pitchFamily="18" charset="0"/>
                        </a:rPr>
                        <a:t>14</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extLst>
                  <a:ext uri="{0D108BD9-81ED-4DB2-BD59-A6C34878D82A}">
                    <a16:rowId xmlns:a16="http://schemas.microsoft.com/office/drawing/2014/main" val="1856494530"/>
                  </a:ext>
                </a:extLst>
              </a:tr>
              <a:tr h="470130">
                <a:tc>
                  <a:txBody>
                    <a:bodyPr/>
                    <a:lstStyle/>
                    <a:p>
                      <a:pPr algn="ctr"/>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l"/>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dirty="0">
                          <a:latin typeface="Times New Roman" panose="02020603050405020304" pitchFamily="18" charset="0"/>
                          <a:cs typeface="Times New Roman" panose="02020603050405020304" pitchFamily="18" charset="0"/>
                        </a:rPr>
                        <a:t>15</a:t>
                      </a:r>
                      <a:endParaRPr lang="en-IN"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extLst>
                  <a:ext uri="{0D108BD9-81ED-4DB2-BD59-A6C34878D82A}">
                    <a16:rowId xmlns:a16="http://schemas.microsoft.com/office/drawing/2014/main" val="563530274"/>
                  </a:ext>
                </a:extLst>
              </a:tr>
            </a:tbl>
          </a:graphicData>
        </a:graphic>
      </p:graphicFrame>
      <p:sp>
        <p:nvSpPr>
          <p:cNvPr id="6" name="Title 1">
            <a:extLst>
              <a:ext uri="{FF2B5EF4-FFF2-40B4-BE49-F238E27FC236}">
                <a16:creationId xmlns:a16="http://schemas.microsoft.com/office/drawing/2014/main" id="{7AA7AEBE-21D5-D601-C3C5-022E1CFFEF3D}"/>
              </a:ext>
            </a:extLst>
          </p:cNvPr>
          <p:cNvSpPr txBox="1">
            <a:spLocks/>
          </p:cNvSpPr>
          <p:nvPr/>
        </p:nvSpPr>
        <p:spPr>
          <a:xfrm>
            <a:off x="0" y="33303"/>
            <a:ext cx="12191999" cy="584705"/>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latin typeface="Cambria" panose="02040503050406030204" pitchFamily="18" charset="0"/>
              </a:rPr>
              <a:t>  </a:t>
            </a:r>
            <a:r>
              <a:rPr lang="en-IN" sz="2800" b="1" dirty="0">
                <a:solidFill>
                  <a:schemeClr val="bg1"/>
                </a:solidFill>
                <a:latin typeface="Times New Roman" panose="02020603050405020304" pitchFamily="18" charset="0"/>
                <a:cs typeface="Times New Roman" panose="02020603050405020304" pitchFamily="18" charset="0"/>
              </a:rPr>
              <a:t>Table of Contents</a:t>
            </a:r>
            <a:endParaRPr lang="en-IN" sz="2000" b="1" dirty="0">
              <a:solidFill>
                <a:schemeClr val="bg1"/>
              </a:solidFill>
              <a:latin typeface="Times New Roman" panose="02020603050405020304" pitchFamily="18" charset="0"/>
              <a:cs typeface="Times New Roman" panose="02020603050405020304" pitchFamily="18" charset="0"/>
            </a:endParaRPr>
          </a:p>
        </p:txBody>
      </p:sp>
      <p:pic>
        <p:nvPicPr>
          <p:cNvPr id="2" name="Picture 4" descr="352397-vtu-logo - Kollege Times">
            <a:extLst>
              <a:ext uri="{FF2B5EF4-FFF2-40B4-BE49-F238E27FC236}">
                <a16:creationId xmlns:a16="http://schemas.microsoft.com/office/drawing/2014/main" id="{4DBD7EF2-29B0-A6D9-89B1-9D971D76BDA5}"/>
              </a:ext>
            </a:extLst>
          </p:cNvPr>
          <p:cNvPicPr>
            <a:picLocks noChangeAspect="1" noChangeArrowheads="1"/>
          </p:cNvPicPr>
          <p:nvPr/>
        </p:nvPicPr>
        <p:blipFill>
          <a:blip r:embed="rId3" cstate="print"/>
          <a:srcRect/>
          <a:stretch>
            <a:fillRect/>
          </a:stretch>
        </p:blipFill>
        <p:spPr bwMode="auto">
          <a:xfrm>
            <a:off x="0" y="5784631"/>
            <a:ext cx="793630" cy="696527"/>
          </a:xfrm>
          <a:prstGeom prst="rect">
            <a:avLst/>
          </a:prstGeom>
          <a:noFill/>
        </p:spPr>
      </p:pic>
    </p:spTree>
    <p:extLst>
      <p:ext uri="{BB962C8B-B14F-4D97-AF65-F5344CB8AC3E}">
        <p14:creationId xmlns:p14="http://schemas.microsoft.com/office/powerpoint/2010/main" val="1214204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2" name="Title 1">
            <a:extLst>
              <a:ext uri="{FF2B5EF4-FFF2-40B4-BE49-F238E27FC236}">
                <a16:creationId xmlns:a16="http://schemas.microsoft.com/office/drawing/2014/main" id="{19846BC7-47FC-DA88-6039-FD193B86F7C6}"/>
              </a:ext>
            </a:extLst>
          </p:cNvPr>
          <p:cNvSpPr txBox="1">
            <a:spLocks/>
          </p:cNvSpPr>
          <p:nvPr/>
        </p:nvSpPr>
        <p:spPr>
          <a:xfrm>
            <a:off x="0" y="33303"/>
            <a:ext cx="12191999" cy="584705"/>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latin typeface="Cambria" panose="02040503050406030204" pitchFamily="18" charset="0"/>
              </a:rPr>
              <a:t>  </a:t>
            </a:r>
            <a:r>
              <a:rPr lang="en-IN" sz="2800" b="1" dirty="0">
                <a:solidFill>
                  <a:schemeClr val="bg1"/>
                </a:solidFill>
                <a:latin typeface="Times New Roman" panose="02020603050405020304" pitchFamily="18" charset="0"/>
                <a:cs typeface="Times New Roman" panose="02020603050405020304" pitchFamily="18" charset="0"/>
              </a:rPr>
              <a:t>Introduction</a:t>
            </a:r>
            <a:endParaRPr lang="en-IN" sz="2000" b="1" dirty="0">
              <a:solidFill>
                <a:schemeClr val="bg1"/>
              </a:solidFill>
              <a:latin typeface="Times New Roman" panose="02020603050405020304" pitchFamily="18" charset="0"/>
              <a:cs typeface="Times New Roman" panose="02020603050405020304" pitchFamily="18" charset="0"/>
            </a:endParaRPr>
          </a:p>
        </p:txBody>
      </p:sp>
      <p:pic>
        <p:nvPicPr>
          <p:cNvPr id="5" name="Picture 4" descr="352397-vtu-logo - Kollege Times">
            <a:extLst>
              <a:ext uri="{FF2B5EF4-FFF2-40B4-BE49-F238E27FC236}">
                <a16:creationId xmlns:a16="http://schemas.microsoft.com/office/drawing/2014/main" id="{24910EFC-FB37-2E03-389D-D613C3BEA520}"/>
              </a:ext>
            </a:extLst>
          </p:cNvPr>
          <p:cNvPicPr>
            <a:picLocks noChangeAspect="1" noChangeArrowheads="1"/>
          </p:cNvPicPr>
          <p:nvPr/>
        </p:nvPicPr>
        <p:blipFill>
          <a:blip r:embed="rId3" cstate="print"/>
          <a:srcRect/>
          <a:stretch>
            <a:fillRect/>
          </a:stretch>
        </p:blipFill>
        <p:spPr bwMode="auto">
          <a:xfrm>
            <a:off x="0" y="5784631"/>
            <a:ext cx="793630" cy="696527"/>
          </a:xfrm>
          <a:prstGeom prst="rect">
            <a:avLst/>
          </a:prstGeom>
          <a:noFill/>
        </p:spPr>
      </p:pic>
      <p:sp>
        <p:nvSpPr>
          <p:cNvPr id="12" name="Rectangle 3">
            <a:extLst>
              <a:ext uri="{FF2B5EF4-FFF2-40B4-BE49-F238E27FC236}">
                <a16:creationId xmlns:a16="http://schemas.microsoft.com/office/drawing/2014/main" id="{CE636067-FF5B-D891-2FC0-63B965D4813D}"/>
              </a:ext>
            </a:extLst>
          </p:cNvPr>
          <p:cNvSpPr>
            <a:spLocks noChangeArrowheads="1"/>
          </p:cNvSpPr>
          <p:nvPr/>
        </p:nvSpPr>
        <p:spPr bwMode="auto">
          <a:xfrm>
            <a:off x="893545" y="2159112"/>
            <a:ext cx="6853170" cy="4005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7">
            <a:extLst>
              <a:ext uri="{FF2B5EF4-FFF2-40B4-BE49-F238E27FC236}">
                <a16:creationId xmlns:a16="http://schemas.microsoft.com/office/drawing/2014/main" id="{835F9BF4-3A8A-85CF-BCFA-9FB145FC795B}"/>
              </a:ext>
            </a:extLst>
          </p:cNvPr>
          <p:cNvSpPr>
            <a:spLocks noChangeArrowheads="1"/>
          </p:cNvSpPr>
          <p:nvPr/>
        </p:nvSpPr>
        <p:spPr bwMode="auto">
          <a:xfrm rot="10800000" flipV="1">
            <a:off x="787945" y="773989"/>
            <a:ext cx="613338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dirty="0">
                <a:latin typeface="Times New Roman" panose="02020603050405020304" pitchFamily="18" charset="0"/>
                <a:cs typeface="Times New Roman" panose="02020603050405020304" pitchFamily="18" charset="0"/>
              </a:rPr>
              <a:t>The IoT connects billions of battery-powered sensor nodes for applications like smart cities, healthcare, and agriculture.</a:t>
            </a:r>
          </a:p>
          <a:p>
            <a:r>
              <a:rPr lang="en-IN" sz="2000" dirty="0">
                <a:latin typeface="Times New Roman" panose="02020603050405020304" pitchFamily="18" charset="0"/>
                <a:cs typeface="Times New Roman" panose="02020603050405020304" pitchFamily="18" charset="0"/>
              </a:rPr>
              <a:t>A key challenge: </a:t>
            </a:r>
            <a:r>
              <a:rPr lang="en-IN" sz="2000" b="1" dirty="0">
                <a:latin typeface="Times New Roman" panose="02020603050405020304" pitchFamily="18" charset="0"/>
                <a:cs typeface="Times New Roman" panose="02020603050405020304" pitchFamily="18" charset="0"/>
              </a:rPr>
              <a:t>energy waste</a:t>
            </a:r>
            <a:r>
              <a:rPr lang="en-IN" sz="2000" dirty="0">
                <a:latin typeface="Times New Roman" panose="02020603050405020304" pitchFamily="18" charset="0"/>
                <a:cs typeface="Times New Roman" panose="02020603050405020304" pitchFamily="18" charset="0"/>
              </a:rPr>
              <a:t> from idle listening, collisions, and fixed duty cycles → shortens network lifetime &amp; increases e-waste.</a:t>
            </a:r>
          </a:p>
          <a:p>
            <a:r>
              <a:rPr lang="en-IN" sz="2000" dirty="0">
                <a:latin typeface="Times New Roman" panose="02020603050405020304" pitchFamily="18" charset="0"/>
                <a:cs typeface="Times New Roman" panose="02020603050405020304" pitchFamily="18" charset="0"/>
              </a:rPr>
              <a:t>Traditional MAC/routing protocols (CSMA/CA, TDMA, static duty cycles) are inefficient in dense, heterogeneous IoT networks.</a:t>
            </a:r>
          </a:p>
          <a:p>
            <a:r>
              <a:rPr lang="en-IN" sz="2000" dirty="0">
                <a:latin typeface="Times New Roman" panose="02020603050405020304" pitchFamily="18" charset="0"/>
                <a:cs typeface="Times New Roman" panose="02020603050405020304" pitchFamily="18" charset="0"/>
              </a:rPr>
              <a:t>Our project introduces an </a:t>
            </a:r>
            <a:r>
              <a:rPr lang="en-IN" sz="2000" b="1" dirty="0">
                <a:latin typeface="Times New Roman" panose="02020603050405020304" pitchFamily="18" charset="0"/>
                <a:cs typeface="Times New Roman" panose="02020603050405020304" pitchFamily="18" charset="0"/>
              </a:rPr>
              <a:t>AI-based scheduler using Reinforcement Learning (RL)</a:t>
            </a:r>
            <a:r>
              <a:rPr lang="en-IN" sz="2000" dirty="0">
                <a:latin typeface="Times New Roman" panose="02020603050405020304" pitchFamily="18" charset="0"/>
                <a:cs typeface="Times New Roman" panose="02020603050405020304" pitchFamily="18" charset="0"/>
              </a:rPr>
              <a:t> to dynamically optimize sleep/wake cycles and transmissions.</a:t>
            </a:r>
          </a:p>
          <a:p>
            <a:r>
              <a:rPr lang="en-IN" sz="2000" dirty="0">
                <a:latin typeface="Times New Roman" panose="02020603050405020304" pitchFamily="18" charset="0"/>
                <a:cs typeface="Times New Roman" panose="02020603050405020304" pitchFamily="18" charset="0"/>
              </a:rPr>
              <a:t>Goal: </a:t>
            </a:r>
            <a:r>
              <a:rPr lang="en-IN" sz="2000" b="1" dirty="0">
                <a:latin typeface="Times New Roman" panose="02020603050405020304" pitchFamily="18" charset="0"/>
                <a:cs typeface="Times New Roman" panose="02020603050405020304" pitchFamily="18" charset="0"/>
              </a:rPr>
              <a:t>maximize energy efficiency + extend network lifetime</a:t>
            </a:r>
            <a:r>
              <a:rPr lang="en-IN" sz="2000" dirty="0">
                <a:latin typeface="Times New Roman" panose="02020603050405020304" pitchFamily="18" charset="0"/>
                <a:cs typeface="Times New Roman" panose="02020603050405020304" pitchFamily="18" charset="0"/>
              </a:rPr>
              <a:t>, while maintaining QoS in terms of latency, reliability, and packet delivery.</a:t>
            </a:r>
          </a:p>
        </p:txBody>
      </p:sp>
      <p:pic>
        <p:nvPicPr>
          <p:cNvPr id="3074" name="Picture 2" descr="mdpi.com/1996-1073/17/23...">
            <a:extLst>
              <a:ext uri="{FF2B5EF4-FFF2-40B4-BE49-F238E27FC236}">
                <a16:creationId xmlns:a16="http://schemas.microsoft.com/office/drawing/2014/main" id="{42E73CE9-F6E9-594E-D7E2-3D4007FF2EC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8658" y="781268"/>
            <a:ext cx="5081538" cy="4534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9021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sp>
        <p:nvSpPr>
          <p:cNvPr id="2" name="Title 1">
            <a:extLst>
              <a:ext uri="{FF2B5EF4-FFF2-40B4-BE49-F238E27FC236}">
                <a16:creationId xmlns:a16="http://schemas.microsoft.com/office/drawing/2014/main" id="{C9D0C890-7442-D353-9D2E-474A29B86CE4}"/>
              </a:ext>
            </a:extLst>
          </p:cNvPr>
          <p:cNvSpPr txBox="1">
            <a:spLocks/>
          </p:cNvSpPr>
          <p:nvPr/>
        </p:nvSpPr>
        <p:spPr>
          <a:xfrm>
            <a:off x="0" y="33303"/>
            <a:ext cx="12191999" cy="584705"/>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latin typeface="Times New Roman" panose="02020603050405020304" pitchFamily="18" charset="0"/>
                <a:cs typeface="Times New Roman" panose="02020603050405020304" pitchFamily="18" charset="0"/>
              </a:rPr>
              <a:t>  </a:t>
            </a:r>
            <a:r>
              <a:rPr lang="en-IN" sz="2800" b="1" dirty="0">
                <a:solidFill>
                  <a:schemeClr val="bg1"/>
                </a:solidFill>
                <a:latin typeface="Times New Roman" panose="02020603050405020304" pitchFamily="18" charset="0"/>
                <a:cs typeface="Times New Roman" panose="02020603050405020304" pitchFamily="18" charset="0"/>
              </a:rPr>
              <a:t>Literature Survey</a:t>
            </a:r>
            <a:endParaRPr lang="en-IN" sz="20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7977A6F-66D6-D0EA-3B41-39F53A53F366}"/>
              </a:ext>
            </a:extLst>
          </p:cNvPr>
          <p:cNvGraphicFramePr>
            <a:graphicFrameLocks noGrp="1"/>
          </p:cNvGraphicFramePr>
          <p:nvPr>
            <p:extLst>
              <p:ext uri="{D42A27DB-BD31-4B8C-83A1-F6EECF244321}">
                <p14:modId xmlns:p14="http://schemas.microsoft.com/office/powerpoint/2010/main" val="3594520087"/>
              </p:ext>
            </p:extLst>
          </p:nvPr>
        </p:nvGraphicFramePr>
        <p:xfrm>
          <a:off x="108487" y="728420"/>
          <a:ext cx="11964693" cy="5486114"/>
        </p:xfrm>
        <a:graphic>
          <a:graphicData uri="http://schemas.openxmlformats.org/drawingml/2006/table">
            <a:tbl>
              <a:tblPr firstRow="1" bandRow="1">
                <a:tableStyleId>{5C22544A-7EE6-4342-B048-85BDC9FD1C3A}</a:tableStyleId>
              </a:tblPr>
              <a:tblGrid>
                <a:gridCol w="1204974">
                  <a:extLst>
                    <a:ext uri="{9D8B030D-6E8A-4147-A177-3AD203B41FA5}">
                      <a16:colId xmlns:a16="http://schemas.microsoft.com/office/drawing/2014/main" val="234921032"/>
                    </a:ext>
                  </a:extLst>
                </a:gridCol>
                <a:gridCol w="4057030">
                  <a:extLst>
                    <a:ext uri="{9D8B030D-6E8A-4147-A177-3AD203B41FA5}">
                      <a16:colId xmlns:a16="http://schemas.microsoft.com/office/drawing/2014/main" val="2017681088"/>
                    </a:ext>
                  </a:extLst>
                </a:gridCol>
                <a:gridCol w="3115661">
                  <a:extLst>
                    <a:ext uri="{9D8B030D-6E8A-4147-A177-3AD203B41FA5}">
                      <a16:colId xmlns:a16="http://schemas.microsoft.com/office/drawing/2014/main" val="949558620"/>
                    </a:ext>
                  </a:extLst>
                </a:gridCol>
                <a:gridCol w="3587028">
                  <a:extLst>
                    <a:ext uri="{9D8B030D-6E8A-4147-A177-3AD203B41FA5}">
                      <a16:colId xmlns:a16="http://schemas.microsoft.com/office/drawing/2014/main" val="3531820716"/>
                    </a:ext>
                  </a:extLst>
                </a:gridCol>
              </a:tblGrid>
              <a:tr h="776879">
                <a:tc>
                  <a:txBody>
                    <a:bodyPr/>
                    <a:lstStyle/>
                    <a:p>
                      <a:pPr algn="ctr"/>
                      <a:r>
                        <a:rPr lang="en-US" sz="2000" dirty="0" err="1">
                          <a:latin typeface="Times New Roman" panose="02020603050405020304" pitchFamily="18" charset="0"/>
                          <a:cs typeface="Times New Roman" panose="02020603050405020304" pitchFamily="18" charset="0"/>
                        </a:rPr>
                        <a:t>S.No</a:t>
                      </a:r>
                      <a:endParaRPr lang="en-IN" sz="2000" dirty="0">
                        <a:latin typeface="Times New Roman" panose="02020603050405020304" pitchFamily="18" charset="0"/>
                        <a:cs typeface="Times New Roman" panose="02020603050405020304" pitchFamily="18" charset="0"/>
                      </a:endParaRPr>
                    </a:p>
                  </a:txBody>
                  <a:tcPr>
                    <a:solidFill>
                      <a:schemeClr val="accent2">
                        <a:lumMod val="50000"/>
                      </a:schemeClr>
                    </a:solidFill>
                  </a:tcPr>
                </a:tc>
                <a:tc>
                  <a:txBody>
                    <a:bodyPr/>
                    <a:lstStyle/>
                    <a:p>
                      <a:pPr algn="ctr"/>
                      <a:r>
                        <a:rPr lang="en-US" sz="2000" dirty="0">
                          <a:latin typeface="Times New Roman" panose="02020603050405020304" pitchFamily="18" charset="0"/>
                          <a:cs typeface="Times New Roman" panose="02020603050405020304" pitchFamily="18" charset="0"/>
                        </a:rPr>
                        <a:t>Topic</a:t>
                      </a:r>
                      <a:endParaRPr lang="en-IN" sz="2000" dirty="0">
                        <a:latin typeface="Times New Roman" panose="02020603050405020304" pitchFamily="18" charset="0"/>
                        <a:cs typeface="Times New Roman" panose="02020603050405020304" pitchFamily="18" charset="0"/>
                      </a:endParaRPr>
                    </a:p>
                  </a:txBody>
                  <a:tcPr>
                    <a:solidFill>
                      <a:schemeClr val="accent2">
                        <a:lumMod val="50000"/>
                      </a:schemeClr>
                    </a:solidFill>
                  </a:tcPr>
                </a:tc>
                <a:tc>
                  <a:txBody>
                    <a:bodyPr/>
                    <a:lstStyle/>
                    <a:p>
                      <a:pPr algn="ctr"/>
                      <a:r>
                        <a:rPr lang="en-US" sz="2000" dirty="0">
                          <a:latin typeface="Times New Roman" panose="02020603050405020304" pitchFamily="18" charset="0"/>
                          <a:cs typeface="Times New Roman" panose="02020603050405020304" pitchFamily="18" charset="0"/>
                        </a:rPr>
                        <a:t>Author and Year of Publication</a:t>
                      </a:r>
                      <a:endParaRPr lang="en-IN" sz="2000" dirty="0">
                        <a:latin typeface="Times New Roman" panose="02020603050405020304" pitchFamily="18" charset="0"/>
                        <a:cs typeface="Times New Roman" panose="02020603050405020304" pitchFamily="18" charset="0"/>
                      </a:endParaRPr>
                    </a:p>
                  </a:txBody>
                  <a:tcPr>
                    <a:solidFill>
                      <a:schemeClr val="accent2">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Relevance</a:t>
                      </a: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txBody>
                  <a:tcPr>
                    <a:solidFill>
                      <a:schemeClr val="accent2">
                        <a:lumMod val="50000"/>
                      </a:schemeClr>
                    </a:solidFill>
                  </a:tcPr>
                </a:tc>
                <a:extLst>
                  <a:ext uri="{0D108BD9-81ED-4DB2-BD59-A6C34878D82A}">
                    <a16:rowId xmlns:a16="http://schemas.microsoft.com/office/drawing/2014/main" val="265468168"/>
                  </a:ext>
                </a:extLst>
              </a:tr>
              <a:tr h="1834301">
                <a:tc>
                  <a:txBody>
                    <a:bodyPr/>
                    <a:lstStyle/>
                    <a:p>
                      <a:pPr algn="ctr"/>
                      <a:endParaRPr lang="en-US" sz="2000" b="0" dirty="0">
                        <a:latin typeface="Times New Roman" panose="02020603050405020304" pitchFamily="18" charset="0"/>
                        <a:cs typeface="Times New Roman" panose="02020603050405020304" pitchFamily="18" charset="0"/>
                      </a:endParaRPr>
                    </a:p>
                    <a:p>
                      <a:pPr algn="ctr"/>
                      <a:r>
                        <a:rPr lang="en-US" sz="2000" b="0" dirty="0">
                          <a:latin typeface="Times New Roman" panose="02020603050405020304" pitchFamily="18" charset="0"/>
                          <a:cs typeface="Times New Roman" panose="02020603050405020304" pitchFamily="18" charset="0"/>
                        </a:rPr>
                        <a:t>1.</a:t>
                      </a:r>
                      <a:endParaRPr lang="en-IN" sz="2000" b="0"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endParaRPr lang="en-IN" sz="2000" b="0"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endParaRPr lang="en-IN" sz="2000" b="0"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endParaRPr lang="en-IN" sz="2000" dirty="0">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2767062627"/>
                  </a:ext>
                </a:extLst>
              </a:tr>
              <a:tr h="1579136">
                <a:tc>
                  <a:txBody>
                    <a:bodyPr/>
                    <a:lstStyle/>
                    <a:p>
                      <a:pPr algn="ctr"/>
                      <a:endParaRPr lang="en-US" sz="2000" b="0" dirty="0">
                        <a:latin typeface="Times New Roman" panose="02020603050405020304" pitchFamily="18" charset="0"/>
                        <a:cs typeface="Times New Roman" panose="02020603050405020304" pitchFamily="18" charset="0"/>
                      </a:endParaRPr>
                    </a:p>
                    <a:p>
                      <a:pPr algn="ctr"/>
                      <a:r>
                        <a:rPr lang="en-US" sz="2000" b="0" dirty="0">
                          <a:latin typeface="Times New Roman" panose="02020603050405020304" pitchFamily="18" charset="0"/>
                          <a:cs typeface="Times New Roman" panose="02020603050405020304" pitchFamily="18" charset="0"/>
                        </a:rPr>
                        <a:t>2.</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solidFill>
                      <a:schemeClr val="bg1">
                        <a:lumMod val="95000"/>
                      </a:schemeClr>
                    </a:solidFill>
                  </a:tcPr>
                </a:tc>
                <a:tc>
                  <a:txBody>
                    <a:bodyPr/>
                    <a:lstStyle/>
                    <a:p>
                      <a:pPr algn="ctr"/>
                      <a:endParaRPr lang="en-IN" sz="2000" b="0"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endParaRPr lang="en-IN" sz="2000" dirty="0">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2370979132"/>
                  </a:ext>
                </a:extLst>
              </a:tr>
              <a:tr h="1295798">
                <a:tc>
                  <a:txBody>
                    <a:bodyPr/>
                    <a:lstStyle/>
                    <a:p>
                      <a:pPr algn="ctr"/>
                      <a:endParaRPr lang="en-US" sz="2000" b="0" dirty="0">
                        <a:latin typeface="Times New Roman" panose="02020603050405020304" pitchFamily="18" charset="0"/>
                        <a:cs typeface="Times New Roman" panose="02020603050405020304" pitchFamily="18" charset="0"/>
                      </a:endParaRPr>
                    </a:p>
                    <a:p>
                      <a:pPr algn="ctr"/>
                      <a:r>
                        <a:rPr lang="en-US" sz="2000" b="0" dirty="0">
                          <a:latin typeface="Times New Roman" panose="02020603050405020304" pitchFamily="18" charset="0"/>
                          <a:cs typeface="Times New Roman" panose="02020603050405020304" pitchFamily="18" charset="0"/>
                        </a:rPr>
                        <a:t>3.</a:t>
                      </a:r>
                      <a:endParaRPr lang="en-IN" sz="2000" b="0"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endParaRPr lang="en-IN" sz="2000" b="0"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lvl="0" algn="ctr" fontAlgn="base"/>
                      <a:endParaRPr lang="en-IN" sz="20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solidFill>
                      <a:schemeClr val="bg1">
                        <a:lumMod val="95000"/>
                      </a:schemeClr>
                    </a:solidFill>
                  </a:tcPr>
                </a:tc>
                <a:tc>
                  <a:txBody>
                    <a:bodyPr/>
                    <a:lstStyle/>
                    <a:p>
                      <a:pPr algn="ctr"/>
                      <a:endParaRPr lang="en-IN" sz="2000" dirty="0">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1655676116"/>
                  </a:ext>
                </a:extLst>
              </a:tr>
            </a:tbl>
          </a:graphicData>
        </a:graphic>
      </p:graphicFrame>
      <p:graphicFrame>
        <p:nvGraphicFramePr>
          <p:cNvPr id="4" name="Table 3">
            <a:extLst>
              <a:ext uri="{FF2B5EF4-FFF2-40B4-BE49-F238E27FC236}">
                <a16:creationId xmlns:a16="http://schemas.microsoft.com/office/drawing/2014/main" id="{75D11E98-0EFB-C08C-1F53-D92681D31585}"/>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913738295"/>
                    </a:ext>
                  </a:extLst>
                </a:gridCol>
              </a:tblGrid>
              <a:tr h="0">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739314381"/>
                  </a:ext>
                </a:extLst>
              </a:tr>
            </a:tbl>
          </a:graphicData>
        </a:graphic>
      </p:graphicFrame>
      <p:graphicFrame>
        <p:nvGraphicFramePr>
          <p:cNvPr id="5" name="Table 4">
            <a:extLst>
              <a:ext uri="{FF2B5EF4-FFF2-40B4-BE49-F238E27FC236}">
                <a16:creationId xmlns:a16="http://schemas.microsoft.com/office/drawing/2014/main" id="{E6F850C3-5C1D-55F7-31BE-393D8F49E667}"/>
              </a:ext>
            </a:extLst>
          </p:cNvPr>
          <p:cNvGraphicFramePr>
            <a:graphicFrameLocks noGrp="1"/>
          </p:cNvGraphicFramePr>
          <p:nvPr>
            <p:extLst>
              <p:ext uri="{D42A27DB-BD31-4B8C-83A1-F6EECF244321}">
                <p14:modId xmlns:p14="http://schemas.microsoft.com/office/powerpoint/2010/main" val="4051861814"/>
              </p:ext>
            </p:extLst>
          </p:nvPr>
        </p:nvGraphicFramePr>
        <p:xfrm>
          <a:off x="1641914" y="1528155"/>
          <a:ext cx="3215431" cy="1411161"/>
        </p:xfrm>
        <a:graphic>
          <a:graphicData uri="http://schemas.openxmlformats.org/drawingml/2006/table">
            <a:tbl>
              <a:tblPr/>
              <a:tblGrid>
                <a:gridCol w="3215431">
                  <a:extLst>
                    <a:ext uri="{9D8B030D-6E8A-4147-A177-3AD203B41FA5}">
                      <a16:colId xmlns:a16="http://schemas.microsoft.com/office/drawing/2014/main" val="886479621"/>
                    </a:ext>
                  </a:extLst>
                </a:gridCol>
              </a:tblGrid>
              <a:tr h="1411161">
                <a:tc>
                  <a:txBody>
                    <a:bodyPr/>
                    <a:lstStyle/>
                    <a:p>
                      <a:pPr algn="ctr">
                        <a:buNone/>
                      </a:pPr>
                      <a:r>
                        <a:rPr lang="en-IN" dirty="0">
                          <a:latin typeface="Times New Roman" panose="02020603050405020304" pitchFamily="18" charset="0"/>
                          <a:cs typeface="Times New Roman" panose="02020603050405020304" pitchFamily="18" charset="0"/>
                        </a:rPr>
                        <a:t>“Energy-Efficient Routing via Multi-Agent RL”</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4184364323"/>
                  </a:ext>
                </a:extLst>
              </a:tr>
            </a:tbl>
          </a:graphicData>
        </a:graphic>
      </p:graphicFrame>
      <p:graphicFrame>
        <p:nvGraphicFramePr>
          <p:cNvPr id="7" name="Table 6">
            <a:extLst>
              <a:ext uri="{FF2B5EF4-FFF2-40B4-BE49-F238E27FC236}">
                <a16:creationId xmlns:a16="http://schemas.microsoft.com/office/drawing/2014/main" id="{58DFF6F1-6A1D-6E6F-7736-F0AF8990D3F0}"/>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616744001"/>
                    </a:ext>
                  </a:extLst>
                </a:gridCol>
              </a:tblGrid>
              <a:tr h="0">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2083128436"/>
                  </a:ext>
                </a:extLst>
              </a:tr>
            </a:tbl>
          </a:graphicData>
        </a:graphic>
      </p:graphicFrame>
      <p:graphicFrame>
        <p:nvGraphicFramePr>
          <p:cNvPr id="10" name="Table 9">
            <a:extLst>
              <a:ext uri="{FF2B5EF4-FFF2-40B4-BE49-F238E27FC236}">
                <a16:creationId xmlns:a16="http://schemas.microsoft.com/office/drawing/2014/main" id="{634F2823-6F7E-FED4-C90F-F90A2776BC35}"/>
              </a:ext>
            </a:extLst>
          </p:cNvPr>
          <p:cNvGraphicFramePr>
            <a:graphicFrameLocks noGrp="1"/>
          </p:cNvGraphicFramePr>
          <p:nvPr>
            <p:extLst>
              <p:ext uri="{D42A27DB-BD31-4B8C-83A1-F6EECF244321}">
                <p14:modId xmlns:p14="http://schemas.microsoft.com/office/powerpoint/2010/main" val="1320614934"/>
              </p:ext>
            </p:extLst>
          </p:nvPr>
        </p:nvGraphicFramePr>
        <p:xfrm>
          <a:off x="1581516" y="3122875"/>
          <a:ext cx="3336226" cy="1756837"/>
        </p:xfrm>
        <a:graphic>
          <a:graphicData uri="http://schemas.openxmlformats.org/drawingml/2006/table">
            <a:tbl>
              <a:tblPr/>
              <a:tblGrid>
                <a:gridCol w="3336226">
                  <a:extLst>
                    <a:ext uri="{9D8B030D-6E8A-4147-A177-3AD203B41FA5}">
                      <a16:colId xmlns:a16="http://schemas.microsoft.com/office/drawing/2014/main" val="3830081624"/>
                    </a:ext>
                  </a:extLst>
                </a:gridCol>
              </a:tblGrid>
              <a:tr h="1756837">
                <a:tc>
                  <a:txBody>
                    <a:bodyPr/>
                    <a:lstStyle/>
                    <a:p>
                      <a:pPr algn="ctr">
                        <a:buNone/>
                      </a:pPr>
                      <a:r>
                        <a:rPr lang="en-IN" b="0" dirty="0">
                          <a:latin typeface="Times New Roman" panose="02020603050405020304" pitchFamily="18" charset="0"/>
                          <a:cs typeface="Times New Roman" panose="02020603050405020304" pitchFamily="18" charset="0"/>
                        </a:rPr>
                        <a:t>“Vision-Based Coverage Optimization"</a:t>
                      </a:r>
                      <a:endParaRPr lang="en-US" b="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97702676"/>
                  </a:ext>
                </a:extLst>
              </a:tr>
            </a:tbl>
          </a:graphicData>
        </a:graphic>
      </p:graphicFrame>
      <p:graphicFrame>
        <p:nvGraphicFramePr>
          <p:cNvPr id="13" name="Table 12">
            <a:extLst>
              <a:ext uri="{FF2B5EF4-FFF2-40B4-BE49-F238E27FC236}">
                <a16:creationId xmlns:a16="http://schemas.microsoft.com/office/drawing/2014/main" id="{47044123-0227-AE33-EC81-0455D00D47D1}"/>
              </a:ext>
            </a:extLst>
          </p:cNvPr>
          <p:cNvGraphicFramePr>
            <a:graphicFrameLocks noGrp="1"/>
          </p:cNvGraphicFramePr>
          <p:nvPr>
            <p:extLst>
              <p:ext uri="{D42A27DB-BD31-4B8C-83A1-F6EECF244321}">
                <p14:modId xmlns:p14="http://schemas.microsoft.com/office/powerpoint/2010/main" val="3853207410"/>
              </p:ext>
            </p:extLst>
          </p:nvPr>
        </p:nvGraphicFramePr>
        <p:xfrm>
          <a:off x="1331359" y="3481737"/>
          <a:ext cx="3836542" cy="365760"/>
        </p:xfrm>
        <a:graphic>
          <a:graphicData uri="http://schemas.openxmlformats.org/drawingml/2006/table">
            <a:tbl>
              <a:tblPr/>
              <a:tblGrid>
                <a:gridCol w="3836542">
                  <a:extLst>
                    <a:ext uri="{9D8B030D-6E8A-4147-A177-3AD203B41FA5}">
                      <a16:colId xmlns:a16="http://schemas.microsoft.com/office/drawing/2014/main" val="535836630"/>
                    </a:ext>
                  </a:extLst>
                </a:gridCol>
              </a:tblGrid>
              <a:tr h="0">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181329796"/>
                  </a:ext>
                </a:extLst>
              </a:tr>
            </a:tbl>
          </a:graphicData>
        </a:graphic>
      </p:graphicFrame>
      <p:graphicFrame>
        <p:nvGraphicFramePr>
          <p:cNvPr id="14" name="Table 13">
            <a:extLst>
              <a:ext uri="{FF2B5EF4-FFF2-40B4-BE49-F238E27FC236}">
                <a16:creationId xmlns:a16="http://schemas.microsoft.com/office/drawing/2014/main" id="{79F8D981-6C83-256D-CAE7-7D39471298F8}"/>
              </a:ext>
            </a:extLst>
          </p:cNvPr>
          <p:cNvGraphicFramePr>
            <a:graphicFrameLocks noGrp="1"/>
          </p:cNvGraphicFramePr>
          <p:nvPr>
            <p:extLst>
              <p:ext uri="{D42A27DB-BD31-4B8C-83A1-F6EECF244321}">
                <p14:modId xmlns:p14="http://schemas.microsoft.com/office/powerpoint/2010/main" val="3390654423"/>
              </p:ext>
            </p:extLst>
          </p:nvPr>
        </p:nvGraphicFramePr>
        <p:xfrm>
          <a:off x="1542136" y="4782323"/>
          <a:ext cx="3414986" cy="1214196"/>
        </p:xfrm>
        <a:graphic>
          <a:graphicData uri="http://schemas.openxmlformats.org/drawingml/2006/table">
            <a:tbl>
              <a:tblPr/>
              <a:tblGrid>
                <a:gridCol w="3414986">
                  <a:extLst>
                    <a:ext uri="{9D8B030D-6E8A-4147-A177-3AD203B41FA5}">
                      <a16:colId xmlns:a16="http://schemas.microsoft.com/office/drawing/2014/main" val="1910062876"/>
                    </a:ext>
                  </a:extLst>
                </a:gridCol>
              </a:tblGrid>
              <a:tr h="1214196">
                <a:tc>
                  <a:txBody>
                    <a:bodyPr/>
                    <a:lstStyle/>
                    <a:p>
                      <a:pPr algn="ctr">
                        <a:buNone/>
                      </a:pPr>
                      <a:r>
                        <a:rPr lang="en-IN" b="0" dirty="0">
                          <a:latin typeface="Times New Roman" panose="02020603050405020304" pitchFamily="18" charset="0"/>
                          <a:cs typeface="Times New Roman" panose="02020603050405020304" pitchFamily="18" charset="0"/>
                        </a:rPr>
                        <a:t>“RL-BMAC Protocol”</a:t>
                      </a:r>
                      <a:endParaRPr lang="en-US" b="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511024910"/>
                  </a:ext>
                </a:extLst>
              </a:tr>
            </a:tbl>
          </a:graphicData>
        </a:graphic>
      </p:graphicFrame>
      <p:sp>
        <p:nvSpPr>
          <p:cNvPr id="15" name="TextBox 14">
            <a:extLst>
              <a:ext uri="{FF2B5EF4-FFF2-40B4-BE49-F238E27FC236}">
                <a16:creationId xmlns:a16="http://schemas.microsoft.com/office/drawing/2014/main" id="{E2C996A7-69F8-2DD4-8304-43AB0CE60A1C}"/>
              </a:ext>
            </a:extLst>
          </p:cNvPr>
          <p:cNvSpPr txBox="1"/>
          <p:nvPr/>
        </p:nvSpPr>
        <p:spPr>
          <a:xfrm>
            <a:off x="5915449" y="2088751"/>
            <a:ext cx="2114681"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Zhao &amp; Chen (2025)</a:t>
            </a:r>
          </a:p>
        </p:txBody>
      </p:sp>
      <p:sp>
        <p:nvSpPr>
          <p:cNvPr id="16" name="TextBox 15">
            <a:extLst>
              <a:ext uri="{FF2B5EF4-FFF2-40B4-BE49-F238E27FC236}">
                <a16:creationId xmlns:a16="http://schemas.microsoft.com/office/drawing/2014/main" id="{A27F33A1-DD33-6A68-D163-A0EA7661A2B4}"/>
              </a:ext>
            </a:extLst>
          </p:cNvPr>
          <p:cNvSpPr txBox="1"/>
          <p:nvPr/>
        </p:nvSpPr>
        <p:spPr>
          <a:xfrm>
            <a:off x="5787209" y="3777022"/>
            <a:ext cx="2371162"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Ahmed &amp; Singh (2025)</a:t>
            </a:r>
          </a:p>
        </p:txBody>
      </p:sp>
      <p:sp>
        <p:nvSpPr>
          <p:cNvPr id="17" name="TextBox 16">
            <a:extLst>
              <a:ext uri="{FF2B5EF4-FFF2-40B4-BE49-F238E27FC236}">
                <a16:creationId xmlns:a16="http://schemas.microsoft.com/office/drawing/2014/main" id="{72B84E09-3B97-E9E5-082F-35C519397E9B}"/>
              </a:ext>
            </a:extLst>
          </p:cNvPr>
          <p:cNvSpPr txBox="1"/>
          <p:nvPr/>
        </p:nvSpPr>
        <p:spPr>
          <a:xfrm>
            <a:off x="5787209" y="5200748"/>
            <a:ext cx="2422458"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Sharma &amp; Gupta (2024)</a:t>
            </a:r>
          </a:p>
        </p:txBody>
      </p:sp>
      <p:sp>
        <p:nvSpPr>
          <p:cNvPr id="18" name="TextBox 17">
            <a:extLst>
              <a:ext uri="{FF2B5EF4-FFF2-40B4-BE49-F238E27FC236}">
                <a16:creationId xmlns:a16="http://schemas.microsoft.com/office/drawing/2014/main" id="{8BC3C4DB-6CE1-CE05-B1EB-940A9DA9BA1D}"/>
              </a:ext>
            </a:extLst>
          </p:cNvPr>
          <p:cNvSpPr txBox="1"/>
          <p:nvPr/>
        </p:nvSpPr>
        <p:spPr>
          <a:xfrm>
            <a:off x="8574936" y="4923749"/>
            <a:ext cx="3272023" cy="92333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Deep Q-Network agents optimize sleep/wake scheduling using real-time metrics </a:t>
            </a:r>
          </a:p>
        </p:txBody>
      </p:sp>
      <p:sp>
        <p:nvSpPr>
          <p:cNvPr id="19" name="TextBox 18">
            <a:extLst>
              <a:ext uri="{FF2B5EF4-FFF2-40B4-BE49-F238E27FC236}">
                <a16:creationId xmlns:a16="http://schemas.microsoft.com/office/drawing/2014/main" id="{79B8F5CA-E064-F672-4AEA-C0E59D42BD76}"/>
              </a:ext>
            </a:extLst>
          </p:cNvPr>
          <p:cNvSpPr txBox="1"/>
          <p:nvPr/>
        </p:nvSpPr>
        <p:spPr>
          <a:xfrm>
            <a:off x="8611552" y="3388721"/>
            <a:ext cx="3234558" cy="92333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DRL reduces energy by 32% &amp; extends lifetime by 45% </a:t>
            </a:r>
          </a:p>
        </p:txBody>
      </p:sp>
      <p:sp>
        <p:nvSpPr>
          <p:cNvPr id="20" name="TextBox 19">
            <a:extLst>
              <a:ext uri="{FF2B5EF4-FFF2-40B4-BE49-F238E27FC236}">
                <a16:creationId xmlns:a16="http://schemas.microsoft.com/office/drawing/2014/main" id="{1986E13A-C9B2-A227-11F3-AC1DA543A4FB}"/>
              </a:ext>
            </a:extLst>
          </p:cNvPr>
          <p:cNvSpPr txBox="1"/>
          <p:nvPr/>
        </p:nvSpPr>
        <p:spPr>
          <a:xfrm>
            <a:off x="8672362" y="1684421"/>
            <a:ext cx="3051209"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Balances energy, avoids hotspots, extends lifetime</a:t>
            </a:r>
          </a:p>
        </p:txBody>
      </p:sp>
    </p:spTree>
    <p:extLst>
      <p:ext uri="{BB962C8B-B14F-4D97-AF65-F5344CB8AC3E}">
        <p14:creationId xmlns:p14="http://schemas.microsoft.com/office/powerpoint/2010/main" val="1019021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C51C3-DB63-EC5C-A8D0-40716B97349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45523ED-5550-E60B-6ABE-F16889218593}"/>
              </a:ext>
            </a:extLst>
          </p:cNvPr>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5088CC2A-9225-6B1C-CFC7-F84C0A3F147B}"/>
              </a:ext>
            </a:extLst>
          </p:cNvPr>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sp>
        <p:nvSpPr>
          <p:cNvPr id="2" name="Title 1">
            <a:extLst>
              <a:ext uri="{FF2B5EF4-FFF2-40B4-BE49-F238E27FC236}">
                <a16:creationId xmlns:a16="http://schemas.microsoft.com/office/drawing/2014/main" id="{D99A479B-E045-6D68-7D1D-128C4F8ABEB2}"/>
              </a:ext>
            </a:extLst>
          </p:cNvPr>
          <p:cNvSpPr txBox="1">
            <a:spLocks/>
          </p:cNvSpPr>
          <p:nvPr/>
        </p:nvSpPr>
        <p:spPr>
          <a:xfrm>
            <a:off x="0" y="33303"/>
            <a:ext cx="12191999" cy="584705"/>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latin typeface="Times New Roman" panose="02020603050405020304" pitchFamily="18" charset="0"/>
                <a:cs typeface="Times New Roman" panose="02020603050405020304" pitchFamily="18" charset="0"/>
              </a:rPr>
              <a:t>  </a:t>
            </a:r>
            <a:r>
              <a:rPr lang="en-IN" sz="2800" b="1" dirty="0">
                <a:solidFill>
                  <a:schemeClr val="bg1"/>
                </a:solidFill>
                <a:latin typeface="Times New Roman" panose="02020603050405020304" pitchFamily="18" charset="0"/>
                <a:cs typeface="Times New Roman" panose="02020603050405020304" pitchFamily="18" charset="0"/>
              </a:rPr>
              <a:t>Literature Survey</a:t>
            </a:r>
            <a:endParaRPr lang="en-IN" sz="20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F8AA4310-D02B-7D88-932B-7E3E299DB4DA}"/>
              </a:ext>
            </a:extLst>
          </p:cNvPr>
          <p:cNvGraphicFramePr>
            <a:graphicFrameLocks noGrp="1"/>
          </p:cNvGraphicFramePr>
          <p:nvPr>
            <p:extLst>
              <p:ext uri="{D42A27DB-BD31-4B8C-83A1-F6EECF244321}">
                <p14:modId xmlns:p14="http://schemas.microsoft.com/office/powerpoint/2010/main" val="1534514441"/>
              </p:ext>
            </p:extLst>
          </p:nvPr>
        </p:nvGraphicFramePr>
        <p:xfrm>
          <a:off x="108487" y="728420"/>
          <a:ext cx="11964693" cy="3651813"/>
        </p:xfrm>
        <a:graphic>
          <a:graphicData uri="http://schemas.openxmlformats.org/drawingml/2006/table">
            <a:tbl>
              <a:tblPr firstRow="1" bandRow="1">
                <a:tableStyleId>{5C22544A-7EE6-4342-B048-85BDC9FD1C3A}</a:tableStyleId>
              </a:tblPr>
              <a:tblGrid>
                <a:gridCol w="1204974">
                  <a:extLst>
                    <a:ext uri="{9D8B030D-6E8A-4147-A177-3AD203B41FA5}">
                      <a16:colId xmlns:a16="http://schemas.microsoft.com/office/drawing/2014/main" val="234921032"/>
                    </a:ext>
                  </a:extLst>
                </a:gridCol>
                <a:gridCol w="4057030">
                  <a:extLst>
                    <a:ext uri="{9D8B030D-6E8A-4147-A177-3AD203B41FA5}">
                      <a16:colId xmlns:a16="http://schemas.microsoft.com/office/drawing/2014/main" val="2017681088"/>
                    </a:ext>
                  </a:extLst>
                </a:gridCol>
                <a:gridCol w="3115661">
                  <a:extLst>
                    <a:ext uri="{9D8B030D-6E8A-4147-A177-3AD203B41FA5}">
                      <a16:colId xmlns:a16="http://schemas.microsoft.com/office/drawing/2014/main" val="949558620"/>
                    </a:ext>
                  </a:extLst>
                </a:gridCol>
                <a:gridCol w="3587028">
                  <a:extLst>
                    <a:ext uri="{9D8B030D-6E8A-4147-A177-3AD203B41FA5}">
                      <a16:colId xmlns:a16="http://schemas.microsoft.com/office/drawing/2014/main" val="3531820716"/>
                    </a:ext>
                  </a:extLst>
                </a:gridCol>
              </a:tblGrid>
              <a:tr h="776879">
                <a:tc>
                  <a:txBody>
                    <a:bodyPr/>
                    <a:lstStyle/>
                    <a:p>
                      <a:pPr algn="ctr"/>
                      <a:r>
                        <a:rPr lang="en-US" sz="2000" dirty="0" err="1">
                          <a:latin typeface="Times New Roman" panose="02020603050405020304" pitchFamily="18" charset="0"/>
                          <a:cs typeface="Times New Roman" panose="02020603050405020304" pitchFamily="18" charset="0"/>
                        </a:rPr>
                        <a:t>S.No</a:t>
                      </a:r>
                      <a:endParaRPr lang="en-IN" sz="2000" dirty="0">
                        <a:latin typeface="Times New Roman" panose="02020603050405020304" pitchFamily="18" charset="0"/>
                        <a:cs typeface="Times New Roman" panose="02020603050405020304" pitchFamily="18" charset="0"/>
                      </a:endParaRPr>
                    </a:p>
                  </a:txBody>
                  <a:tcPr>
                    <a:solidFill>
                      <a:schemeClr val="accent2">
                        <a:lumMod val="50000"/>
                      </a:schemeClr>
                    </a:solidFill>
                  </a:tcPr>
                </a:tc>
                <a:tc>
                  <a:txBody>
                    <a:bodyPr/>
                    <a:lstStyle/>
                    <a:p>
                      <a:pPr algn="ctr"/>
                      <a:r>
                        <a:rPr lang="en-US" sz="2000" dirty="0">
                          <a:latin typeface="Times New Roman" panose="02020603050405020304" pitchFamily="18" charset="0"/>
                          <a:cs typeface="Times New Roman" panose="02020603050405020304" pitchFamily="18" charset="0"/>
                        </a:rPr>
                        <a:t>Topic</a:t>
                      </a:r>
                      <a:endParaRPr lang="en-IN" sz="2000" dirty="0">
                        <a:latin typeface="Times New Roman" panose="02020603050405020304" pitchFamily="18" charset="0"/>
                        <a:cs typeface="Times New Roman" panose="02020603050405020304" pitchFamily="18" charset="0"/>
                      </a:endParaRPr>
                    </a:p>
                  </a:txBody>
                  <a:tcPr>
                    <a:solidFill>
                      <a:schemeClr val="accent2">
                        <a:lumMod val="50000"/>
                      </a:schemeClr>
                    </a:solidFill>
                  </a:tcPr>
                </a:tc>
                <a:tc>
                  <a:txBody>
                    <a:bodyPr/>
                    <a:lstStyle/>
                    <a:p>
                      <a:pPr algn="ctr"/>
                      <a:r>
                        <a:rPr lang="en-US" sz="2000" dirty="0">
                          <a:latin typeface="Times New Roman" panose="02020603050405020304" pitchFamily="18" charset="0"/>
                          <a:cs typeface="Times New Roman" panose="02020603050405020304" pitchFamily="18" charset="0"/>
                        </a:rPr>
                        <a:t>Author and Year of Publication</a:t>
                      </a:r>
                      <a:endParaRPr lang="en-IN" sz="2000" dirty="0">
                        <a:latin typeface="Times New Roman" panose="02020603050405020304" pitchFamily="18" charset="0"/>
                        <a:cs typeface="Times New Roman" panose="02020603050405020304" pitchFamily="18" charset="0"/>
                      </a:endParaRPr>
                    </a:p>
                  </a:txBody>
                  <a:tcPr>
                    <a:solidFill>
                      <a:schemeClr val="accent2">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Relevance</a:t>
                      </a: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txBody>
                  <a:tcPr>
                    <a:solidFill>
                      <a:schemeClr val="accent2">
                        <a:lumMod val="50000"/>
                      </a:schemeClr>
                    </a:solidFill>
                  </a:tcPr>
                </a:tc>
                <a:extLst>
                  <a:ext uri="{0D108BD9-81ED-4DB2-BD59-A6C34878D82A}">
                    <a16:rowId xmlns:a16="http://schemas.microsoft.com/office/drawing/2014/main" val="265468168"/>
                  </a:ext>
                </a:extLst>
              </a:tr>
              <a:tr h="1579136">
                <a:tc>
                  <a:txBody>
                    <a:bodyPr/>
                    <a:lstStyle/>
                    <a:p>
                      <a:pPr algn="ctr"/>
                      <a:endParaRPr lang="en-US" sz="2000" b="0" dirty="0">
                        <a:latin typeface="Times New Roman" panose="02020603050405020304" pitchFamily="18" charset="0"/>
                        <a:cs typeface="Times New Roman" panose="02020603050405020304" pitchFamily="18" charset="0"/>
                      </a:endParaRPr>
                    </a:p>
                    <a:p>
                      <a:pPr algn="ctr"/>
                      <a:r>
                        <a:rPr lang="en-US" sz="2000" b="0" dirty="0">
                          <a:latin typeface="Times New Roman" panose="02020603050405020304" pitchFamily="18" charset="0"/>
                          <a:cs typeface="Times New Roman" panose="02020603050405020304" pitchFamily="18" charset="0"/>
                        </a:rPr>
                        <a:t>5.</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solidFill>
                      <a:schemeClr val="bg1">
                        <a:lumMod val="95000"/>
                      </a:schemeClr>
                    </a:solidFill>
                  </a:tcPr>
                </a:tc>
                <a:tc>
                  <a:txBody>
                    <a:bodyPr/>
                    <a:lstStyle/>
                    <a:p>
                      <a:pPr algn="ctr"/>
                      <a:endParaRPr lang="en-IN" sz="2000" b="0"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endParaRPr lang="en-IN" sz="2000" dirty="0">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2370979132"/>
                  </a:ext>
                </a:extLst>
              </a:tr>
              <a:tr h="1295798">
                <a:tc>
                  <a:txBody>
                    <a:bodyPr/>
                    <a:lstStyle/>
                    <a:p>
                      <a:pPr algn="ctr"/>
                      <a:endParaRPr lang="en-IN" sz="2000" b="0" dirty="0">
                        <a:latin typeface="Times New Roman" panose="02020603050405020304" pitchFamily="18" charset="0"/>
                        <a:cs typeface="Times New Roman" panose="02020603050405020304" pitchFamily="18" charset="0"/>
                      </a:endParaRPr>
                    </a:p>
                    <a:p>
                      <a:pPr algn="ctr"/>
                      <a:r>
                        <a:rPr lang="en-IN" sz="2000" b="0" dirty="0">
                          <a:latin typeface="Times New Roman" panose="02020603050405020304" pitchFamily="18" charset="0"/>
                          <a:cs typeface="Times New Roman" panose="02020603050405020304" pitchFamily="18" charset="0"/>
                        </a:rPr>
                        <a:t>6.</a:t>
                      </a:r>
                    </a:p>
                  </a:txBody>
                  <a:tcPr>
                    <a:solidFill>
                      <a:schemeClr val="bg1">
                        <a:lumMod val="95000"/>
                      </a:schemeClr>
                    </a:solidFill>
                  </a:tcPr>
                </a:tc>
                <a:tc>
                  <a:txBody>
                    <a:bodyPr/>
                    <a:lstStyle/>
                    <a:p>
                      <a:pPr algn="ctr"/>
                      <a:endParaRPr lang="en-IN" sz="2000" b="0"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lvl="0" algn="ctr" fontAlgn="base"/>
                      <a:endParaRPr lang="en-IN" sz="20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solidFill>
                      <a:schemeClr val="bg1">
                        <a:lumMod val="95000"/>
                      </a:schemeClr>
                    </a:solidFill>
                  </a:tcPr>
                </a:tc>
                <a:tc>
                  <a:txBody>
                    <a:bodyPr/>
                    <a:lstStyle/>
                    <a:p>
                      <a:pPr algn="ctr"/>
                      <a:endParaRPr lang="en-IN" sz="2000" dirty="0">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1655676116"/>
                  </a:ext>
                </a:extLst>
              </a:tr>
            </a:tbl>
          </a:graphicData>
        </a:graphic>
      </p:graphicFrame>
      <p:graphicFrame>
        <p:nvGraphicFramePr>
          <p:cNvPr id="4" name="Table 3">
            <a:extLst>
              <a:ext uri="{FF2B5EF4-FFF2-40B4-BE49-F238E27FC236}">
                <a16:creationId xmlns:a16="http://schemas.microsoft.com/office/drawing/2014/main" id="{45082758-DA29-CE41-AC46-6C881FB6C3A8}"/>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913738295"/>
                    </a:ext>
                  </a:extLst>
                </a:gridCol>
              </a:tblGrid>
              <a:tr h="0">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739314381"/>
                  </a:ext>
                </a:extLst>
              </a:tr>
            </a:tbl>
          </a:graphicData>
        </a:graphic>
      </p:graphicFrame>
      <p:graphicFrame>
        <p:nvGraphicFramePr>
          <p:cNvPr id="5" name="Table 4">
            <a:extLst>
              <a:ext uri="{FF2B5EF4-FFF2-40B4-BE49-F238E27FC236}">
                <a16:creationId xmlns:a16="http://schemas.microsoft.com/office/drawing/2014/main" id="{EF60AB30-C17E-E547-FB27-12101F921781}"/>
              </a:ext>
            </a:extLst>
          </p:cNvPr>
          <p:cNvGraphicFramePr>
            <a:graphicFrameLocks noGrp="1"/>
          </p:cNvGraphicFramePr>
          <p:nvPr>
            <p:extLst>
              <p:ext uri="{D42A27DB-BD31-4B8C-83A1-F6EECF244321}">
                <p14:modId xmlns:p14="http://schemas.microsoft.com/office/powerpoint/2010/main" val="1270744438"/>
              </p:ext>
            </p:extLst>
          </p:nvPr>
        </p:nvGraphicFramePr>
        <p:xfrm>
          <a:off x="1641914" y="1528155"/>
          <a:ext cx="3215431" cy="1411161"/>
        </p:xfrm>
        <a:graphic>
          <a:graphicData uri="http://schemas.openxmlformats.org/drawingml/2006/table">
            <a:tbl>
              <a:tblPr/>
              <a:tblGrid>
                <a:gridCol w="3215431">
                  <a:extLst>
                    <a:ext uri="{9D8B030D-6E8A-4147-A177-3AD203B41FA5}">
                      <a16:colId xmlns:a16="http://schemas.microsoft.com/office/drawing/2014/main" val="886479621"/>
                    </a:ext>
                  </a:extLst>
                </a:gridCol>
              </a:tblGrid>
              <a:tr h="1411161">
                <a:tc>
                  <a:txBody>
                    <a:bodyPr/>
                    <a:lstStyle/>
                    <a:p>
                      <a:pPr algn="ctr">
                        <a:buNone/>
                      </a:pPr>
                      <a:r>
                        <a:rPr lang="en-IN" dirty="0">
                          <a:latin typeface="Times New Roman" panose="02020603050405020304" pitchFamily="18" charset="0"/>
                          <a:cs typeface="Times New Roman" panose="02020603050405020304" pitchFamily="18" charset="0"/>
                        </a:rPr>
                        <a:t>“RL-MAC Surveys”</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4184364323"/>
                  </a:ext>
                </a:extLst>
              </a:tr>
            </a:tbl>
          </a:graphicData>
        </a:graphic>
      </p:graphicFrame>
      <p:graphicFrame>
        <p:nvGraphicFramePr>
          <p:cNvPr id="7" name="Table 6">
            <a:extLst>
              <a:ext uri="{FF2B5EF4-FFF2-40B4-BE49-F238E27FC236}">
                <a16:creationId xmlns:a16="http://schemas.microsoft.com/office/drawing/2014/main" id="{03D31F62-5505-EED8-A4E9-3B34EEA5C03A}"/>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616744001"/>
                    </a:ext>
                  </a:extLst>
                </a:gridCol>
              </a:tblGrid>
              <a:tr h="0">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2083128436"/>
                  </a:ext>
                </a:extLst>
              </a:tr>
            </a:tbl>
          </a:graphicData>
        </a:graphic>
      </p:graphicFrame>
      <p:graphicFrame>
        <p:nvGraphicFramePr>
          <p:cNvPr id="10" name="Table 9">
            <a:extLst>
              <a:ext uri="{FF2B5EF4-FFF2-40B4-BE49-F238E27FC236}">
                <a16:creationId xmlns:a16="http://schemas.microsoft.com/office/drawing/2014/main" id="{F427EA6F-0B9B-9A6B-218F-FC0AB0E485AA}"/>
              </a:ext>
            </a:extLst>
          </p:cNvPr>
          <p:cNvGraphicFramePr>
            <a:graphicFrameLocks noGrp="1"/>
          </p:cNvGraphicFramePr>
          <p:nvPr>
            <p:extLst>
              <p:ext uri="{D42A27DB-BD31-4B8C-83A1-F6EECF244321}">
                <p14:modId xmlns:p14="http://schemas.microsoft.com/office/powerpoint/2010/main" val="3147917661"/>
              </p:ext>
            </p:extLst>
          </p:nvPr>
        </p:nvGraphicFramePr>
        <p:xfrm>
          <a:off x="1641914" y="2969078"/>
          <a:ext cx="3336226" cy="1756837"/>
        </p:xfrm>
        <a:graphic>
          <a:graphicData uri="http://schemas.openxmlformats.org/drawingml/2006/table">
            <a:tbl>
              <a:tblPr/>
              <a:tblGrid>
                <a:gridCol w="3336226">
                  <a:extLst>
                    <a:ext uri="{9D8B030D-6E8A-4147-A177-3AD203B41FA5}">
                      <a16:colId xmlns:a16="http://schemas.microsoft.com/office/drawing/2014/main" val="3830081624"/>
                    </a:ext>
                  </a:extLst>
                </a:gridCol>
              </a:tblGrid>
              <a:tr h="1756837">
                <a:tc>
                  <a:txBody>
                    <a:bodyPr/>
                    <a:lstStyle/>
                    <a:p>
                      <a:pPr algn="ctr">
                        <a:buNone/>
                      </a:pPr>
                      <a:r>
                        <a:rPr lang="en-IN" dirty="0"/>
                        <a:t>“Opportunistic Duty-Cycled MAC”</a:t>
                      </a:r>
                      <a:endParaRPr lang="en-US" b="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97702676"/>
                  </a:ext>
                </a:extLst>
              </a:tr>
            </a:tbl>
          </a:graphicData>
        </a:graphic>
      </p:graphicFrame>
      <p:graphicFrame>
        <p:nvGraphicFramePr>
          <p:cNvPr id="13" name="Table 12">
            <a:extLst>
              <a:ext uri="{FF2B5EF4-FFF2-40B4-BE49-F238E27FC236}">
                <a16:creationId xmlns:a16="http://schemas.microsoft.com/office/drawing/2014/main" id="{10B01F0E-3B09-2AA3-01D5-673BCD114B0C}"/>
              </a:ext>
            </a:extLst>
          </p:cNvPr>
          <p:cNvGraphicFramePr>
            <a:graphicFrameLocks noGrp="1"/>
          </p:cNvGraphicFramePr>
          <p:nvPr/>
        </p:nvGraphicFramePr>
        <p:xfrm>
          <a:off x="1331359" y="3481737"/>
          <a:ext cx="3836542" cy="365760"/>
        </p:xfrm>
        <a:graphic>
          <a:graphicData uri="http://schemas.openxmlformats.org/drawingml/2006/table">
            <a:tbl>
              <a:tblPr/>
              <a:tblGrid>
                <a:gridCol w="3836542">
                  <a:extLst>
                    <a:ext uri="{9D8B030D-6E8A-4147-A177-3AD203B41FA5}">
                      <a16:colId xmlns:a16="http://schemas.microsoft.com/office/drawing/2014/main" val="535836630"/>
                    </a:ext>
                  </a:extLst>
                </a:gridCol>
              </a:tblGrid>
              <a:tr h="0">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181329796"/>
                  </a:ext>
                </a:extLst>
              </a:tr>
            </a:tbl>
          </a:graphicData>
        </a:graphic>
      </p:graphicFrame>
      <p:sp>
        <p:nvSpPr>
          <p:cNvPr id="15" name="TextBox 14">
            <a:extLst>
              <a:ext uri="{FF2B5EF4-FFF2-40B4-BE49-F238E27FC236}">
                <a16:creationId xmlns:a16="http://schemas.microsoft.com/office/drawing/2014/main" id="{469BB11C-B31D-5E57-9B51-49E082E6FAA2}"/>
              </a:ext>
            </a:extLst>
          </p:cNvPr>
          <p:cNvSpPr txBox="1"/>
          <p:nvPr/>
        </p:nvSpPr>
        <p:spPr>
          <a:xfrm>
            <a:off x="5844917" y="2088751"/>
            <a:ext cx="2255746"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Kumar &amp; Patel (2023)</a:t>
            </a:r>
          </a:p>
        </p:txBody>
      </p:sp>
      <p:sp>
        <p:nvSpPr>
          <p:cNvPr id="16" name="TextBox 15">
            <a:extLst>
              <a:ext uri="{FF2B5EF4-FFF2-40B4-BE49-F238E27FC236}">
                <a16:creationId xmlns:a16="http://schemas.microsoft.com/office/drawing/2014/main" id="{469E5AE4-2FB4-C2A3-7CE2-DEE65197105A}"/>
              </a:ext>
            </a:extLst>
          </p:cNvPr>
          <p:cNvSpPr txBox="1"/>
          <p:nvPr/>
        </p:nvSpPr>
        <p:spPr>
          <a:xfrm>
            <a:off x="6029358" y="3777022"/>
            <a:ext cx="1886863"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Li &amp; Wang (2020)</a:t>
            </a:r>
          </a:p>
        </p:txBody>
      </p:sp>
      <p:sp>
        <p:nvSpPr>
          <p:cNvPr id="19" name="TextBox 18">
            <a:extLst>
              <a:ext uri="{FF2B5EF4-FFF2-40B4-BE49-F238E27FC236}">
                <a16:creationId xmlns:a16="http://schemas.microsoft.com/office/drawing/2014/main" id="{42EB02B7-EB93-E910-C299-AC202B4D0441}"/>
              </a:ext>
            </a:extLst>
          </p:cNvPr>
          <p:cNvSpPr txBox="1"/>
          <p:nvPr/>
        </p:nvSpPr>
        <p:spPr>
          <a:xfrm>
            <a:off x="8611552" y="3388721"/>
            <a:ext cx="3234558" cy="92333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Reviews protocols for energy efficiency &amp; delivery performance</a:t>
            </a:r>
          </a:p>
        </p:txBody>
      </p:sp>
      <p:sp>
        <p:nvSpPr>
          <p:cNvPr id="20" name="TextBox 19">
            <a:extLst>
              <a:ext uri="{FF2B5EF4-FFF2-40B4-BE49-F238E27FC236}">
                <a16:creationId xmlns:a16="http://schemas.microsoft.com/office/drawing/2014/main" id="{D4114E08-834E-1830-4147-A3A27DEB077D}"/>
              </a:ext>
            </a:extLst>
          </p:cNvPr>
          <p:cNvSpPr txBox="1"/>
          <p:nvPr/>
        </p:nvSpPr>
        <p:spPr>
          <a:xfrm>
            <a:off x="8672362" y="1684421"/>
            <a:ext cx="3051209" cy="92333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Highlights adaptive channel access &amp; optimization of CSMA protocols</a:t>
            </a:r>
          </a:p>
        </p:txBody>
      </p:sp>
    </p:spTree>
    <p:extLst>
      <p:ext uri="{BB962C8B-B14F-4D97-AF65-F5344CB8AC3E}">
        <p14:creationId xmlns:p14="http://schemas.microsoft.com/office/powerpoint/2010/main" val="1279631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7C175-EA69-78D8-3095-99E31AF2F74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C90329E-37C0-832E-423B-7DB020AEC11E}"/>
              </a:ext>
            </a:extLst>
          </p:cNvPr>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57301D0C-B5C5-5DF1-C31B-FC58C848FC1F}"/>
              </a:ext>
            </a:extLst>
          </p:cNvPr>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E9081441-7DD0-EA48-688A-3D902FD75F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25620"/>
            <a:ext cx="609823" cy="633346"/>
          </a:xfrm>
          <a:prstGeom prst="rect">
            <a:avLst/>
          </a:prstGeom>
        </p:spPr>
      </p:pic>
      <p:sp>
        <p:nvSpPr>
          <p:cNvPr id="2" name="Title 1">
            <a:extLst>
              <a:ext uri="{FF2B5EF4-FFF2-40B4-BE49-F238E27FC236}">
                <a16:creationId xmlns:a16="http://schemas.microsoft.com/office/drawing/2014/main" id="{0DD075DF-10FC-1DCE-7C2C-A9AC979A7A2A}"/>
              </a:ext>
            </a:extLst>
          </p:cNvPr>
          <p:cNvSpPr txBox="1">
            <a:spLocks/>
          </p:cNvSpPr>
          <p:nvPr/>
        </p:nvSpPr>
        <p:spPr>
          <a:xfrm>
            <a:off x="0" y="33303"/>
            <a:ext cx="12191999" cy="584705"/>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b="1" dirty="0">
                <a:solidFill>
                  <a:schemeClr val="bg1"/>
                </a:solidFill>
                <a:latin typeface="Times New Roman" panose="02020603050405020304" pitchFamily="18" charset="0"/>
                <a:cs typeface="Times New Roman" panose="02020603050405020304" pitchFamily="18" charset="0"/>
              </a:rPr>
              <a:t>Objectives</a:t>
            </a:r>
          </a:p>
        </p:txBody>
      </p:sp>
      <p:sp>
        <p:nvSpPr>
          <p:cNvPr id="4" name="TextBox 3">
            <a:extLst>
              <a:ext uri="{FF2B5EF4-FFF2-40B4-BE49-F238E27FC236}">
                <a16:creationId xmlns:a16="http://schemas.microsoft.com/office/drawing/2014/main" id="{08C88187-0759-31DF-D5C6-35CF69613F5A}"/>
              </a:ext>
            </a:extLst>
          </p:cNvPr>
          <p:cNvSpPr txBox="1"/>
          <p:nvPr/>
        </p:nvSpPr>
        <p:spPr>
          <a:xfrm>
            <a:off x="793630" y="1483023"/>
            <a:ext cx="10391177" cy="2862322"/>
          </a:xfrm>
          <a:prstGeom prst="rect">
            <a:avLst/>
          </a:prstGeom>
          <a:noFill/>
        </p:spPr>
        <p:txBody>
          <a:bodyPr wrap="square" rtlCol="0">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Simulate IoT sensor network with energy models in MATLAB</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Train AI-based scheduler for </a:t>
            </a:r>
            <a:r>
              <a:rPr lang="en-IN" sz="2000" b="1" dirty="0">
                <a:latin typeface="Times New Roman" panose="02020603050405020304" pitchFamily="18" charset="0"/>
                <a:cs typeface="Times New Roman" panose="02020603050405020304" pitchFamily="18" charset="0"/>
              </a:rPr>
              <a:t>sleep/wake + transmit decisions</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Compare with CSMA/CA, static duty cycle, and TDMA</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Evaluate metrics: lifetime, energy/bit, packet delivery ratio, latency</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Align with </a:t>
            </a:r>
            <a:r>
              <a:rPr lang="en-IN" sz="2000" b="1" dirty="0">
                <a:latin typeface="Times New Roman" panose="02020603050405020304" pitchFamily="18" charset="0"/>
                <a:cs typeface="Times New Roman" panose="02020603050405020304" pitchFamily="18" charset="0"/>
              </a:rPr>
              <a:t>green technology goals</a:t>
            </a:r>
            <a:endParaRPr lang="en-IN" sz="2000" dirty="0">
              <a:latin typeface="Times New Roman" panose="02020603050405020304" pitchFamily="18" charset="0"/>
              <a:cs typeface="Times New Roman" panose="02020603050405020304" pitchFamily="18" charset="0"/>
            </a:endParaRPr>
          </a:p>
        </p:txBody>
      </p:sp>
      <p:pic>
        <p:nvPicPr>
          <p:cNvPr id="3" name="Picture 4" descr="352397-vtu-logo - Kollege Times">
            <a:extLst>
              <a:ext uri="{FF2B5EF4-FFF2-40B4-BE49-F238E27FC236}">
                <a16:creationId xmlns:a16="http://schemas.microsoft.com/office/drawing/2014/main" id="{4F2B7A7C-49F2-65E9-B80E-7BB2E864C795}"/>
              </a:ext>
            </a:extLst>
          </p:cNvPr>
          <p:cNvPicPr>
            <a:picLocks noChangeAspect="1" noChangeArrowheads="1"/>
          </p:cNvPicPr>
          <p:nvPr/>
        </p:nvPicPr>
        <p:blipFill>
          <a:blip r:embed="rId3" cstate="print"/>
          <a:srcRect/>
          <a:stretch>
            <a:fillRect/>
          </a:stretch>
        </p:blipFill>
        <p:spPr bwMode="auto">
          <a:xfrm>
            <a:off x="0" y="5784631"/>
            <a:ext cx="793630" cy="696527"/>
          </a:xfrm>
          <a:prstGeom prst="rect">
            <a:avLst/>
          </a:prstGeom>
          <a:noFill/>
        </p:spPr>
      </p:pic>
      <p:pic>
        <p:nvPicPr>
          <p:cNvPr id="2050" name="Picture 2" descr="Objective Vectors - Download Free High-Quality Vectors from Freepik |  Freepik">
            <a:extLst>
              <a:ext uri="{FF2B5EF4-FFF2-40B4-BE49-F238E27FC236}">
                <a16:creationId xmlns:a16="http://schemas.microsoft.com/office/drawing/2014/main" id="{ECD0F2D4-9D66-C610-D860-4EEDB7F257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5830" y="1557314"/>
            <a:ext cx="3429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5395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D58E5-DFAB-3604-276A-07D0F0E922A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07D322B-F73A-5098-1F84-9E622F2E3EDD}"/>
              </a:ext>
            </a:extLst>
          </p:cNvPr>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79045527-5A20-26E2-17BD-6C1F6558A3A7}"/>
              </a:ext>
            </a:extLst>
          </p:cNvPr>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38D9B26A-D487-85DB-F8D4-4C1A8930D9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2" name="Title 1">
            <a:extLst>
              <a:ext uri="{FF2B5EF4-FFF2-40B4-BE49-F238E27FC236}">
                <a16:creationId xmlns:a16="http://schemas.microsoft.com/office/drawing/2014/main" id="{BC4B2E30-92D2-3003-5479-D82009DAF159}"/>
              </a:ext>
            </a:extLst>
          </p:cNvPr>
          <p:cNvSpPr txBox="1">
            <a:spLocks/>
          </p:cNvSpPr>
          <p:nvPr/>
        </p:nvSpPr>
        <p:spPr>
          <a:xfrm>
            <a:off x="0" y="33303"/>
            <a:ext cx="12191999" cy="584705"/>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b="1" dirty="0">
                <a:solidFill>
                  <a:schemeClr val="bg1"/>
                </a:solidFill>
                <a:latin typeface="Times New Roman" panose="02020603050405020304" pitchFamily="18" charset="0"/>
                <a:cs typeface="Times New Roman" panose="02020603050405020304" pitchFamily="18" charset="0"/>
              </a:rPr>
              <a:t> Methodology</a:t>
            </a:r>
          </a:p>
        </p:txBody>
      </p:sp>
      <p:sp>
        <p:nvSpPr>
          <p:cNvPr id="4" name="TextBox 3">
            <a:extLst>
              <a:ext uri="{FF2B5EF4-FFF2-40B4-BE49-F238E27FC236}">
                <a16:creationId xmlns:a16="http://schemas.microsoft.com/office/drawing/2014/main" id="{D53ED47C-0D19-885A-540E-B0B8B570065C}"/>
              </a:ext>
            </a:extLst>
          </p:cNvPr>
          <p:cNvSpPr txBox="1"/>
          <p:nvPr/>
        </p:nvSpPr>
        <p:spPr>
          <a:xfrm>
            <a:off x="3045125" y="3294654"/>
            <a:ext cx="6101750" cy="369332"/>
          </a:xfrm>
          <a:prstGeom prst="rect">
            <a:avLst/>
          </a:prstGeom>
          <a:noFill/>
        </p:spPr>
        <p:txBody>
          <a:bodyPr wrap="square">
            <a:spAutoFit/>
          </a:bodyPr>
          <a:lstStyle/>
          <a:p>
            <a:endParaRPr lang="en-IN" dirty="0"/>
          </a:p>
        </p:txBody>
      </p:sp>
      <p:pic>
        <p:nvPicPr>
          <p:cNvPr id="6" name="Picture 4" descr="352397-vtu-logo - Kollege Times">
            <a:extLst>
              <a:ext uri="{FF2B5EF4-FFF2-40B4-BE49-F238E27FC236}">
                <a16:creationId xmlns:a16="http://schemas.microsoft.com/office/drawing/2014/main" id="{527423DC-36CB-66AF-F767-C4A6A29E72AC}"/>
              </a:ext>
            </a:extLst>
          </p:cNvPr>
          <p:cNvPicPr>
            <a:picLocks noChangeAspect="1" noChangeArrowheads="1"/>
          </p:cNvPicPr>
          <p:nvPr/>
        </p:nvPicPr>
        <p:blipFill>
          <a:blip r:embed="rId3" cstate="print"/>
          <a:srcRect/>
          <a:stretch>
            <a:fillRect/>
          </a:stretch>
        </p:blipFill>
        <p:spPr bwMode="auto">
          <a:xfrm>
            <a:off x="0" y="5784631"/>
            <a:ext cx="793630" cy="696527"/>
          </a:xfrm>
          <a:prstGeom prst="rect">
            <a:avLst/>
          </a:prstGeom>
          <a:noFill/>
        </p:spPr>
      </p:pic>
      <p:sp>
        <p:nvSpPr>
          <p:cNvPr id="7" name="TextBox 6">
            <a:extLst>
              <a:ext uri="{FF2B5EF4-FFF2-40B4-BE49-F238E27FC236}">
                <a16:creationId xmlns:a16="http://schemas.microsoft.com/office/drawing/2014/main" id="{258930F7-F17A-01C7-2B45-4C050C64D04F}"/>
              </a:ext>
            </a:extLst>
          </p:cNvPr>
          <p:cNvSpPr txBox="1"/>
          <p:nvPr/>
        </p:nvSpPr>
        <p:spPr>
          <a:xfrm>
            <a:off x="159867" y="1624748"/>
            <a:ext cx="8224715" cy="2308324"/>
          </a:xfrm>
          <a:prstGeom prst="rect">
            <a:avLst/>
          </a:prstGeom>
          <a:noFill/>
        </p:spPr>
        <p:txBody>
          <a:bodyPr wrap="square">
            <a:spAutoFit/>
          </a:bodyPr>
          <a:lstStyle/>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Setup IoT network in MATLAB (nodes + batteries + traffic).</a:t>
            </a: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RL scheduler trained on </a:t>
            </a:r>
            <a:r>
              <a:rPr lang="en-IN" sz="2400" b="1" dirty="0">
                <a:latin typeface="Times New Roman" panose="02020603050405020304" pitchFamily="18" charset="0"/>
                <a:cs typeface="Times New Roman" panose="02020603050405020304" pitchFamily="18" charset="0"/>
              </a:rPr>
              <a:t>energy, traffic load, link quality</a:t>
            </a:r>
            <a:r>
              <a:rPr lang="en-IN" sz="2400" dirty="0">
                <a:latin typeface="Times New Roman" panose="02020603050405020304" pitchFamily="18" charset="0"/>
                <a:cs typeface="Times New Roman" panose="02020603050405020304" pitchFamily="18" charset="0"/>
              </a:rPr>
              <a:t>.</a:t>
            </a: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Scheduler outputs sleep/wake + transmission decisions.</a:t>
            </a: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Compare performance with baseline protocols.</a:t>
            </a:r>
          </a:p>
          <a:p>
            <a:pPr marL="457200" indent="-457200">
              <a:buFont typeface="+mj-lt"/>
              <a:buAutoNum type="arabicPeriod"/>
            </a:pP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results: energy savings, PDR, latency, network lifetime.</a:t>
            </a:r>
          </a:p>
        </p:txBody>
      </p:sp>
      <p:pic>
        <p:nvPicPr>
          <p:cNvPr id="6146" name="Picture 2" descr="Types of Agile Methodology">
            <a:hlinkClick r:id="rId4"/>
            <a:extLst>
              <a:ext uri="{FF2B5EF4-FFF2-40B4-BE49-F238E27FC236}">
                <a16:creationId xmlns:a16="http://schemas.microsoft.com/office/drawing/2014/main" id="{5E94614C-AF27-05D8-10EF-2A32C3B1E32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4358" r="42514"/>
          <a:stretch>
            <a:fillRect/>
          </a:stretch>
        </p:blipFill>
        <p:spPr bwMode="auto">
          <a:xfrm>
            <a:off x="8258003" y="1391175"/>
            <a:ext cx="3464163" cy="2815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288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84087-BAD0-311D-B49E-11297E0B7F9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B980D50-AFF0-7A3C-CAAB-97639EAA464A}"/>
              </a:ext>
            </a:extLst>
          </p:cNvPr>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F5A034DD-277F-AD64-9337-0806DD7AF98D}"/>
              </a:ext>
            </a:extLst>
          </p:cNvPr>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F207D99D-665B-E5E0-72CB-AD02DCBAAA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2" name="Title 1">
            <a:extLst>
              <a:ext uri="{FF2B5EF4-FFF2-40B4-BE49-F238E27FC236}">
                <a16:creationId xmlns:a16="http://schemas.microsoft.com/office/drawing/2014/main" id="{3526DEDF-A41E-7777-7BFE-9441A3C63ECB}"/>
              </a:ext>
            </a:extLst>
          </p:cNvPr>
          <p:cNvSpPr txBox="1">
            <a:spLocks/>
          </p:cNvSpPr>
          <p:nvPr/>
        </p:nvSpPr>
        <p:spPr>
          <a:xfrm>
            <a:off x="0" y="33303"/>
            <a:ext cx="12191999" cy="584705"/>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b="1" u="sng" dirty="0">
                <a:solidFill>
                  <a:schemeClr val="bg1"/>
                </a:solidFill>
                <a:latin typeface="Times New Roman" panose="02020603050405020304" pitchFamily="18" charset="0"/>
                <a:cs typeface="Times New Roman" panose="02020603050405020304" pitchFamily="18" charset="0"/>
              </a:rPr>
              <a:t>Hardware a Software Requirements</a:t>
            </a:r>
          </a:p>
        </p:txBody>
      </p:sp>
      <p:sp>
        <p:nvSpPr>
          <p:cNvPr id="3" name="TextBox 2">
            <a:extLst>
              <a:ext uri="{FF2B5EF4-FFF2-40B4-BE49-F238E27FC236}">
                <a16:creationId xmlns:a16="http://schemas.microsoft.com/office/drawing/2014/main" id="{57274BEB-9937-4357-CB47-3193CEF9F7E6}"/>
              </a:ext>
            </a:extLst>
          </p:cNvPr>
          <p:cNvSpPr txBox="1"/>
          <p:nvPr/>
        </p:nvSpPr>
        <p:spPr>
          <a:xfrm>
            <a:off x="396815" y="1036799"/>
            <a:ext cx="10852982" cy="378565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Software</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MATLAB/Simulink + RL Toolbox</a:t>
            </a:r>
          </a:p>
          <a:p>
            <a:r>
              <a:rPr lang="en-IN" sz="2400" dirty="0">
                <a:latin typeface="Times New Roman" panose="02020603050405020304" pitchFamily="18" charset="0"/>
                <a:cs typeface="Times New Roman" panose="02020603050405020304" pitchFamily="18" charset="0"/>
              </a:rPr>
              <a:t>Alternative: Python (Gym)</a:t>
            </a:r>
          </a:p>
          <a:p>
            <a:r>
              <a:rPr lang="en-IN" sz="2400" dirty="0">
                <a:latin typeface="Times New Roman" panose="02020603050405020304" pitchFamily="18" charset="0"/>
                <a:cs typeface="Times New Roman" panose="02020603050405020304" pitchFamily="18" charset="0"/>
              </a:rPr>
              <a:t>ONNX / TF Lite for embedded inference</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Hardware (future prototype)</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ESP32 / STM32 MCU</a:t>
            </a:r>
          </a:p>
          <a:p>
            <a:r>
              <a:rPr lang="en-IN" sz="2400" dirty="0">
                <a:latin typeface="Times New Roman" panose="02020603050405020304" pitchFamily="18" charset="0"/>
                <a:cs typeface="Times New Roman" panose="02020603050405020304" pitchFamily="18" charset="0"/>
              </a:rPr>
              <a:t>BLE 5.0 / 802.15.4 radios</a:t>
            </a:r>
          </a:p>
          <a:p>
            <a:r>
              <a:rPr lang="en-IN" sz="2400" dirty="0">
                <a:latin typeface="Times New Roman" panose="02020603050405020304" pitchFamily="18" charset="0"/>
                <a:cs typeface="Times New Roman" panose="02020603050405020304" pitchFamily="18" charset="0"/>
              </a:rPr>
              <a:t>Sensors: temp, humidity, vibration</a:t>
            </a:r>
          </a:p>
          <a:p>
            <a:r>
              <a:rPr lang="en-IN" sz="2400" dirty="0">
                <a:latin typeface="Times New Roman" panose="02020603050405020304" pitchFamily="18" charset="0"/>
                <a:cs typeface="Times New Roman" panose="02020603050405020304" pitchFamily="18" charset="0"/>
              </a:rPr>
              <a:t>Coin-cell / AA batteries</a:t>
            </a:r>
          </a:p>
        </p:txBody>
      </p:sp>
      <p:pic>
        <p:nvPicPr>
          <p:cNvPr id="4" name="Picture 4" descr="352397-vtu-logo - Kollege Times">
            <a:extLst>
              <a:ext uri="{FF2B5EF4-FFF2-40B4-BE49-F238E27FC236}">
                <a16:creationId xmlns:a16="http://schemas.microsoft.com/office/drawing/2014/main" id="{0BEE90EF-D4F6-E11B-8289-F62D998EE8E6}"/>
              </a:ext>
            </a:extLst>
          </p:cNvPr>
          <p:cNvPicPr>
            <a:picLocks noChangeAspect="1" noChangeArrowheads="1"/>
          </p:cNvPicPr>
          <p:nvPr/>
        </p:nvPicPr>
        <p:blipFill>
          <a:blip r:embed="rId3" cstate="print"/>
          <a:srcRect/>
          <a:stretch>
            <a:fillRect/>
          </a:stretch>
        </p:blipFill>
        <p:spPr bwMode="auto">
          <a:xfrm>
            <a:off x="0" y="5784631"/>
            <a:ext cx="793630" cy="696527"/>
          </a:xfrm>
          <a:prstGeom prst="rect">
            <a:avLst/>
          </a:prstGeom>
          <a:noFill/>
        </p:spPr>
      </p:pic>
      <p:pic>
        <p:nvPicPr>
          <p:cNvPr id="5122" name="Picture 2" descr="ESP32 WROOM 32E — SunFounder ESP32 Starter Kit documentation">
            <a:extLst>
              <a:ext uri="{FF2B5EF4-FFF2-40B4-BE49-F238E27FC236}">
                <a16:creationId xmlns:a16="http://schemas.microsoft.com/office/drawing/2014/main" id="{FDE8765D-C1E6-B7B2-D4C7-0E2B970973A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96897" y="2238801"/>
            <a:ext cx="2606866" cy="186143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124" name="Picture 4" descr="BLE in ESP32: Bluetooth Low Energy connection - ElectroSoftCloud">
            <a:extLst>
              <a:ext uri="{FF2B5EF4-FFF2-40B4-BE49-F238E27FC236}">
                <a16:creationId xmlns:a16="http://schemas.microsoft.com/office/drawing/2014/main" id="{64690BE1-B57B-DE8B-A621-CABCED7C25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89403" y="1821214"/>
            <a:ext cx="1325611" cy="11245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126" name="Picture 6" descr="What is Smart Sensor; Architecture, Components, and Applications | Campus">
            <a:extLst>
              <a:ext uri="{FF2B5EF4-FFF2-40B4-BE49-F238E27FC236}">
                <a16:creationId xmlns:a16="http://schemas.microsoft.com/office/drawing/2014/main" id="{F682444E-395C-FA4F-D322-6C23D4797CAD}"/>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4664" t="5516" r="13687" b="15834"/>
          <a:stretch>
            <a:fillRect/>
          </a:stretch>
        </p:blipFill>
        <p:spPr bwMode="auto">
          <a:xfrm>
            <a:off x="7038547" y="3838112"/>
            <a:ext cx="1627322" cy="116567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5440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367BC-A0AF-A7A7-8B44-C681B0226A0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472AFAE-DDF9-CF33-8F22-70D34CF8246A}"/>
              </a:ext>
            </a:extLst>
          </p:cNvPr>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880B8E05-ACBA-57BA-0BE1-019E29ACE05C}"/>
              </a:ext>
            </a:extLst>
          </p:cNvPr>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53AF3D6F-8CCD-8607-A1A5-0C46BCEB9F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2" name="Title 1">
            <a:extLst>
              <a:ext uri="{FF2B5EF4-FFF2-40B4-BE49-F238E27FC236}">
                <a16:creationId xmlns:a16="http://schemas.microsoft.com/office/drawing/2014/main" id="{B8C49DDF-07DA-B356-4996-C2EFF9F40AC9}"/>
              </a:ext>
            </a:extLst>
          </p:cNvPr>
          <p:cNvSpPr txBox="1">
            <a:spLocks/>
          </p:cNvSpPr>
          <p:nvPr/>
        </p:nvSpPr>
        <p:spPr>
          <a:xfrm>
            <a:off x="0" y="33303"/>
            <a:ext cx="12191999" cy="584705"/>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b="1" dirty="0">
                <a:solidFill>
                  <a:schemeClr val="bg1"/>
                </a:solidFill>
                <a:latin typeface="Cambria" panose="02040503050406030204" pitchFamily="18" charset="0"/>
                <a:cs typeface="Times New Roman" panose="02020603050405020304" pitchFamily="18" charset="0"/>
              </a:rPr>
              <a:t>D</a:t>
            </a:r>
            <a:r>
              <a:rPr lang="en-IN" sz="2000" b="1" dirty="0">
                <a:solidFill>
                  <a:schemeClr val="bg1"/>
                </a:solidFill>
                <a:latin typeface="Cambria" panose="02040503050406030204" pitchFamily="18" charset="0"/>
                <a:cs typeface="Times New Roman" panose="02020603050405020304" pitchFamily="18" charset="0"/>
              </a:rPr>
              <a:t>ESIGNED SYSTEM</a:t>
            </a:r>
            <a:endParaRPr lang="en-IN" sz="2000" b="1" dirty="0">
              <a:solidFill>
                <a:schemeClr val="bg1"/>
              </a:solidFill>
              <a:latin typeface="Times New Roman" panose="02020603050405020304" pitchFamily="18" charset="0"/>
              <a:cs typeface="Times New Roman" panose="02020603050405020304" pitchFamily="18" charset="0"/>
            </a:endParaRPr>
          </a:p>
        </p:txBody>
      </p:sp>
      <p:pic>
        <p:nvPicPr>
          <p:cNvPr id="4" name="Picture 4" descr="352397-vtu-logo - Kollege Times">
            <a:extLst>
              <a:ext uri="{FF2B5EF4-FFF2-40B4-BE49-F238E27FC236}">
                <a16:creationId xmlns:a16="http://schemas.microsoft.com/office/drawing/2014/main" id="{88319B73-C315-A11E-581F-E7D52E4D93E7}"/>
              </a:ext>
            </a:extLst>
          </p:cNvPr>
          <p:cNvPicPr>
            <a:picLocks noChangeAspect="1" noChangeArrowheads="1"/>
          </p:cNvPicPr>
          <p:nvPr/>
        </p:nvPicPr>
        <p:blipFill>
          <a:blip r:embed="rId3" cstate="print"/>
          <a:srcRect/>
          <a:stretch>
            <a:fillRect/>
          </a:stretch>
        </p:blipFill>
        <p:spPr bwMode="auto">
          <a:xfrm>
            <a:off x="0" y="5784631"/>
            <a:ext cx="793630" cy="696527"/>
          </a:xfrm>
          <a:prstGeom prst="rect">
            <a:avLst/>
          </a:prstGeom>
          <a:noFill/>
        </p:spPr>
      </p:pic>
      <p:sp>
        <p:nvSpPr>
          <p:cNvPr id="7" name="TextBox 6">
            <a:extLst>
              <a:ext uri="{FF2B5EF4-FFF2-40B4-BE49-F238E27FC236}">
                <a16:creationId xmlns:a16="http://schemas.microsoft.com/office/drawing/2014/main" id="{CB2FB346-1AD4-CFA9-EB5A-979A5CBF4372}"/>
              </a:ext>
            </a:extLst>
          </p:cNvPr>
          <p:cNvSpPr txBox="1"/>
          <p:nvPr/>
        </p:nvSpPr>
        <p:spPr>
          <a:xfrm>
            <a:off x="1257301" y="1062714"/>
            <a:ext cx="10027405" cy="1754326"/>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Node → State Monitoring (energy, traffic, channel) → AI Scheduler → Sleep/Wake + Tx Decision → Optimized Network Operation</a:t>
            </a: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sp>
        <p:nvSpPr>
          <p:cNvPr id="5" name="AutoShape 2" descr="Output image">
            <a:extLst>
              <a:ext uri="{FF2B5EF4-FFF2-40B4-BE49-F238E27FC236}">
                <a16:creationId xmlns:a16="http://schemas.microsoft.com/office/drawing/2014/main" id="{FDFB6335-8BF0-D265-2B80-1E85953B626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a:extLst>
              <a:ext uri="{FF2B5EF4-FFF2-40B4-BE49-F238E27FC236}">
                <a16:creationId xmlns:a16="http://schemas.microsoft.com/office/drawing/2014/main" id="{DA6AFBAD-35B7-90FF-15F6-1655D16481F1}"/>
              </a:ext>
            </a:extLst>
          </p:cNvPr>
          <p:cNvPicPr>
            <a:picLocks noChangeAspect="1"/>
          </p:cNvPicPr>
          <p:nvPr/>
        </p:nvPicPr>
        <p:blipFill>
          <a:blip r:embed="rId4"/>
          <a:stretch>
            <a:fillRect/>
          </a:stretch>
        </p:blipFill>
        <p:spPr>
          <a:xfrm>
            <a:off x="1369313" y="2379118"/>
            <a:ext cx="10012894" cy="2611336"/>
          </a:xfrm>
          <a:prstGeom prst="rect">
            <a:avLst/>
          </a:prstGeom>
          <a:ln>
            <a:solidFill>
              <a:schemeClr val="tx1"/>
            </a:solidFill>
          </a:ln>
        </p:spPr>
      </p:pic>
      <p:sp>
        <p:nvSpPr>
          <p:cNvPr id="16" name="TextBox 15">
            <a:extLst>
              <a:ext uri="{FF2B5EF4-FFF2-40B4-BE49-F238E27FC236}">
                <a16:creationId xmlns:a16="http://schemas.microsoft.com/office/drawing/2014/main" id="{62251385-AF9F-F611-32EA-6A6B5C509901}"/>
              </a:ext>
            </a:extLst>
          </p:cNvPr>
          <p:cNvSpPr txBox="1"/>
          <p:nvPr/>
        </p:nvSpPr>
        <p:spPr>
          <a:xfrm>
            <a:off x="4001748" y="5028977"/>
            <a:ext cx="6098582" cy="369332"/>
          </a:xfrm>
          <a:prstGeom prst="rect">
            <a:avLst/>
          </a:prstGeom>
          <a:noFill/>
        </p:spPr>
        <p:txBody>
          <a:bodyPr wrap="square">
            <a:spAutoFit/>
          </a:bodyPr>
          <a:lstStyle/>
          <a:p>
            <a:r>
              <a:rPr lang="en-IN" sz="1800" b="1" dirty="0"/>
              <a:t>AI-Based Energy Optimization in IoT Networks</a:t>
            </a:r>
            <a:endParaRPr lang="en-US" dirty="0"/>
          </a:p>
        </p:txBody>
      </p:sp>
    </p:spTree>
    <p:extLst>
      <p:ext uri="{BB962C8B-B14F-4D97-AF65-F5344CB8AC3E}">
        <p14:creationId xmlns:p14="http://schemas.microsoft.com/office/powerpoint/2010/main" val="3557794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6D441-E5BF-C4D1-63D6-CF9ACB8C554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7AB15FC-3F25-E86F-3BED-5882EB525CE3}"/>
              </a:ext>
            </a:extLst>
          </p:cNvPr>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D9E962BD-A9AD-C1A3-8ABD-259931B7B81D}"/>
              </a:ext>
            </a:extLst>
          </p:cNvPr>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DF3F42EA-69FE-DC5D-CB65-2F2DD257B1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2" name="Title 1">
            <a:extLst>
              <a:ext uri="{FF2B5EF4-FFF2-40B4-BE49-F238E27FC236}">
                <a16:creationId xmlns:a16="http://schemas.microsoft.com/office/drawing/2014/main" id="{96362E05-2B8C-77C5-5DC6-20C3AA1C3138}"/>
              </a:ext>
            </a:extLst>
          </p:cNvPr>
          <p:cNvSpPr txBox="1">
            <a:spLocks/>
          </p:cNvSpPr>
          <p:nvPr/>
        </p:nvSpPr>
        <p:spPr>
          <a:xfrm>
            <a:off x="0" y="33303"/>
            <a:ext cx="12191999" cy="584705"/>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bg1"/>
                </a:solidFill>
                <a:latin typeface="Times New Roman" panose="02020603050405020304" pitchFamily="18" charset="0"/>
                <a:cs typeface="Times New Roman" panose="02020603050405020304" pitchFamily="18" charset="0"/>
              </a:rPr>
              <a:t>Excepted Results </a:t>
            </a:r>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30CB7B6-0BE7-90DC-E383-9996C397990C}"/>
              </a:ext>
            </a:extLst>
          </p:cNvPr>
          <p:cNvSpPr txBox="1"/>
          <p:nvPr/>
        </p:nvSpPr>
        <p:spPr>
          <a:xfrm>
            <a:off x="396815" y="981591"/>
            <a:ext cx="10826052" cy="4708981"/>
          </a:xfrm>
          <a:prstGeom prst="rect">
            <a:avLst/>
          </a:prstGeom>
          <a:noFill/>
        </p:spPr>
        <p:txBody>
          <a:bodyPr wrap="square" rtlCol="0">
            <a:spAutoFit/>
          </a:bodyPr>
          <a:lstStyle/>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Energy Savings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Anticipated reduction of </a:t>
            </a:r>
            <a:r>
              <a:rPr lang="en-IN" sz="2000" b="1" dirty="0">
                <a:latin typeface="Times New Roman" panose="02020603050405020304" pitchFamily="18" charset="0"/>
                <a:cs typeface="Times New Roman" panose="02020603050405020304" pitchFamily="18" charset="0"/>
              </a:rPr>
              <a:t>20–50% energy/bit</a:t>
            </a:r>
            <a:r>
              <a:rPr lang="en-IN" sz="2000" dirty="0">
                <a:latin typeface="Times New Roman" panose="02020603050405020304" pitchFamily="18" charset="0"/>
                <a:cs typeface="Times New Roman" panose="02020603050405020304" pitchFamily="18" charset="0"/>
              </a:rPr>
              <a:t> compared to CSMA/CA.</a:t>
            </a:r>
          </a:p>
          <a:p>
            <a:r>
              <a:rPr lang="en-IN" sz="2000" dirty="0">
                <a:latin typeface="Times New Roman" panose="02020603050405020304" pitchFamily="18" charset="0"/>
                <a:cs typeface="Times New Roman" panose="02020603050405020304" pitchFamily="18" charset="0"/>
              </a:rPr>
              <a:t>Additional </a:t>
            </a:r>
            <a:r>
              <a:rPr lang="en-IN" sz="2000" b="1" dirty="0">
                <a:latin typeface="Times New Roman" panose="02020603050405020304" pitchFamily="18" charset="0"/>
                <a:cs typeface="Times New Roman" panose="02020603050405020304" pitchFamily="18" charset="0"/>
              </a:rPr>
              <a:t>10–25% savings</a:t>
            </a:r>
            <a:r>
              <a:rPr lang="en-IN" sz="2000" dirty="0">
                <a:latin typeface="Times New Roman" panose="02020603050405020304" pitchFamily="18" charset="0"/>
                <a:cs typeface="Times New Roman" panose="02020603050405020304" pitchFamily="18" charset="0"/>
              </a:rPr>
              <a:t> over static duty-cycle methods.</a:t>
            </a:r>
          </a:p>
          <a:p>
            <a:r>
              <a:rPr lang="en-IN" sz="2000" dirty="0">
                <a:latin typeface="Times New Roman" panose="02020603050405020304" pitchFamily="18" charset="0"/>
                <a:cs typeface="Times New Roman" panose="02020603050405020304" pitchFamily="18" charset="0"/>
              </a:rPr>
              <a:t>Results in less idle listening, fewer retransmissions, and smarter channel usage.</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Network Lifetime Extension</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+30–80% increase</a:t>
            </a:r>
            <a:r>
              <a:rPr lang="en-IN" sz="2000" dirty="0">
                <a:latin typeface="Times New Roman" panose="02020603050405020304" pitchFamily="18" charset="0"/>
                <a:cs typeface="Times New Roman" panose="02020603050405020304" pitchFamily="18" charset="0"/>
              </a:rPr>
              <a:t> in time-to-first-node-death.</a:t>
            </a:r>
          </a:p>
          <a:p>
            <a:r>
              <a:rPr lang="en-IN" sz="2000" dirty="0">
                <a:latin typeface="Times New Roman" panose="02020603050405020304" pitchFamily="18" charset="0"/>
                <a:cs typeface="Times New Roman" panose="02020603050405020304" pitchFamily="18" charset="0"/>
              </a:rPr>
              <a:t>Better load balancing ensures that all nodes drain energy more uniformly.</a:t>
            </a:r>
          </a:p>
          <a:p>
            <a:r>
              <a:rPr lang="en-IN" sz="2000" dirty="0">
                <a:latin typeface="Times New Roman" panose="02020603050405020304" pitchFamily="18" charset="0"/>
                <a:cs typeface="Times New Roman" panose="02020603050405020304" pitchFamily="18" charset="0"/>
              </a:rPr>
              <a:t>Enables longer deployments with fewer battery replacements.</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Quality of Service (QoS) Preservation</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≥95% packet delivery ratio (PDR)</a:t>
            </a:r>
            <a:r>
              <a:rPr lang="en-IN" sz="2000" dirty="0">
                <a:latin typeface="Times New Roman" panose="02020603050405020304" pitchFamily="18" charset="0"/>
                <a:cs typeface="Times New Roman" panose="02020603050405020304" pitchFamily="18" charset="0"/>
              </a:rPr>
              <a:t> for both periodic and event-driven traffic.</a:t>
            </a:r>
          </a:p>
          <a:p>
            <a:r>
              <a:rPr lang="en-IN" sz="2000" b="1" dirty="0">
                <a:latin typeface="Times New Roman" panose="02020603050405020304" pitchFamily="18" charset="0"/>
                <a:cs typeface="Times New Roman" panose="02020603050405020304" pitchFamily="18" charset="0"/>
              </a:rPr>
              <a:t>Low 95-percentile latency</a:t>
            </a:r>
            <a:r>
              <a:rPr lang="en-IN" sz="2000" dirty="0">
                <a:latin typeface="Times New Roman" panose="02020603050405020304" pitchFamily="18" charset="0"/>
                <a:cs typeface="Times New Roman" panose="02020603050405020304" pitchFamily="18" charset="0"/>
              </a:rPr>
              <a:t> maintained within deadlines, even during bursty traffic.</a:t>
            </a:r>
          </a:p>
          <a:p>
            <a:r>
              <a:rPr lang="en-IN" sz="2000" dirty="0">
                <a:latin typeface="Times New Roman" panose="02020603050405020304" pitchFamily="18" charset="0"/>
                <a:cs typeface="Times New Roman" panose="02020603050405020304" pitchFamily="18" charset="0"/>
              </a:rPr>
              <a:t>Aggregation-aware scheduling ensures timely delivery without energy waste.</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Green Technology Impact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Reduces </a:t>
            </a:r>
            <a:r>
              <a:rPr lang="en-IN" sz="2000" b="1" dirty="0">
                <a:latin typeface="Times New Roman" panose="02020603050405020304" pitchFamily="18" charset="0"/>
                <a:cs typeface="Times New Roman" panose="02020603050405020304" pitchFamily="18" charset="0"/>
              </a:rPr>
              <a:t>electronic waste</a:t>
            </a:r>
            <a:r>
              <a:rPr lang="en-IN" sz="2000" dirty="0">
                <a:latin typeface="Times New Roman" panose="02020603050405020304" pitchFamily="18" charset="0"/>
                <a:cs typeface="Times New Roman" panose="02020603050405020304" pitchFamily="18" charset="0"/>
              </a:rPr>
              <a:t> by minimizing battery swaps.</a:t>
            </a:r>
          </a:p>
          <a:p>
            <a:r>
              <a:rPr lang="en-IN" sz="2000" dirty="0">
                <a:latin typeface="Times New Roman" panose="02020603050405020304" pitchFamily="18" charset="0"/>
                <a:cs typeface="Times New Roman" panose="02020603050405020304" pitchFamily="18" charset="0"/>
              </a:rPr>
              <a:t>Supports sustainability goals in large-scale IoT deployments.</a:t>
            </a:r>
          </a:p>
        </p:txBody>
      </p:sp>
      <p:pic>
        <p:nvPicPr>
          <p:cNvPr id="12" name="Picture 4" descr="352397-vtu-logo - Kollege Times">
            <a:extLst>
              <a:ext uri="{FF2B5EF4-FFF2-40B4-BE49-F238E27FC236}">
                <a16:creationId xmlns:a16="http://schemas.microsoft.com/office/drawing/2014/main" id="{750ACC9D-E55A-8CAC-6F9E-EE894DBDBB65}"/>
              </a:ext>
            </a:extLst>
          </p:cNvPr>
          <p:cNvPicPr>
            <a:picLocks noChangeAspect="1" noChangeArrowheads="1"/>
          </p:cNvPicPr>
          <p:nvPr/>
        </p:nvPicPr>
        <p:blipFill>
          <a:blip r:embed="rId3" cstate="print"/>
          <a:srcRect/>
          <a:stretch>
            <a:fillRect/>
          </a:stretch>
        </p:blipFill>
        <p:spPr bwMode="auto">
          <a:xfrm>
            <a:off x="0" y="5784631"/>
            <a:ext cx="793630" cy="696527"/>
          </a:xfrm>
          <a:prstGeom prst="rect">
            <a:avLst/>
          </a:prstGeom>
          <a:noFill/>
        </p:spPr>
      </p:pic>
      <p:pic>
        <p:nvPicPr>
          <p:cNvPr id="7170" name="Picture 2" descr="Outcomes Stock Photos, Royalty Free Outcomes Images | Depositphotos">
            <a:extLst>
              <a:ext uri="{FF2B5EF4-FFF2-40B4-BE49-F238E27FC236}">
                <a16:creationId xmlns:a16="http://schemas.microsoft.com/office/drawing/2014/main" id="{F0974D9C-C29C-3195-4049-55D1AC2BE4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7339" y="1840652"/>
            <a:ext cx="3144864" cy="3144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8957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3AA85-ADD0-45A9-0E25-63CCB6F7191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664C92E-F1F9-0E05-8C77-D9186DAC9870}"/>
              </a:ext>
            </a:extLst>
          </p:cNvPr>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092695AC-11E7-D4FC-A9DE-10F7FDED5940}"/>
              </a:ext>
            </a:extLst>
          </p:cNvPr>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515A59F4-89B8-886F-0563-812E9C3075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2" name="Title 1">
            <a:extLst>
              <a:ext uri="{FF2B5EF4-FFF2-40B4-BE49-F238E27FC236}">
                <a16:creationId xmlns:a16="http://schemas.microsoft.com/office/drawing/2014/main" id="{56F4D9DB-DA87-370A-003A-ABD5085A6ADF}"/>
              </a:ext>
            </a:extLst>
          </p:cNvPr>
          <p:cNvSpPr txBox="1">
            <a:spLocks/>
          </p:cNvSpPr>
          <p:nvPr/>
        </p:nvSpPr>
        <p:spPr>
          <a:xfrm>
            <a:off x="0" y="33303"/>
            <a:ext cx="12191999" cy="584705"/>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bg1"/>
                </a:solidFill>
                <a:latin typeface="Times New Roman" panose="02020603050405020304" pitchFamily="18" charset="0"/>
                <a:cs typeface="Times New Roman" panose="02020603050405020304" pitchFamily="18" charset="0"/>
              </a:rPr>
              <a:t>Conclusion</a:t>
            </a:r>
            <a:endParaRPr lang="en-IN" sz="2800" b="1" dirty="0">
              <a:solidFill>
                <a:schemeClr val="bg1"/>
              </a:solidFill>
              <a:latin typeface="Times New Roman" panose="02020603050405020304" pitchFamily="18" charset="0"/>
              <a:cs typeface="Times New Roman" panose="02020603050405020304" pitchFamily="18" charset="0"/>
            </a:endParaRPr>
          </a:p>
        </p:txBody>
      </p:sp>
      <p:pic>
        <p:nvPicPr>
          <p:cNvPr id="3" name="Picture 4" descr="352397-vtu-logo - Kollege Times">
            <a:extLst>
              <a:ext uri="{FF2B5EF4-FFF2-40B4-BE49-F238E27FC236}">
                <a16:creationId xmlns:a16="http://schemas.microsoft.com/office/drawing/2014/main" id="{58089F61-E845-4165-EEAE-B667D1DFEF79}"/>
              </a:ext>
            </a:extLst>
          </p:cNvPr>
          <p:cNvPicPr>
            <a:picLocks noChangeAspect="1" noChangeArrowheads="1"/>
          </p:cNvPicPr>
          <p:nvPr/>
        </p:nvPicPr>
        <p:blipFill>
          <a:blip r:embed="rId3" cstate="print"/>
          <a:srcRect/>
          <a:stretch>
            <a:fillRect/>
          </a:stretch>
        </p:blipFill>
        <p:spPr bwMode="auto">
          <a:xfrm>
            <a:off x="0" y="5784631"/>
            <a:ext cx="793630" cy="696527"/>
          </a:xfrm>
          <a:prstGeom prst="rect">
            <a:avLst/>
          </a:prstGeom>
          <a:noFill/>
        </p:spPr>
      </p:pic>
      <p:sp>
        <p:nvSpPr>
          <p:cNvPr id="6" name="TextBox 5">
            <a:extLst>
              <a:ext uri="{FF2B5EF4-FFF2-40B4-BE49-F238E27FC236}">
                <a16:creationId xmlns:a16="http://schemas.microsoft.com/office/drawing/2014/main" id="{1594B09C-AA5E-14E9-F072-2EE6F9A61CE8}"/>
              </a:ext>
            </a:extLst>
          </p:cNvPr>
          <p:cNvSpPr txBox="1"/>
          <p:nvPr/>
        </p:nvSpPr>
        <p:spPr>
          <a:xfrm>
            <a:off x="677864" y="1289367"/>
            <a:ext cx="10630508" cy="4708981"/>
          </a:xfrm>
          <a:prstGeom prst="rect">
            <a:avLst/>
          </a:prstGeom>
          <a:noFill/>
        </p:spPr>
        <p:txBody>
          <a:bodyPr wrap="square" rtlCol="0">
            <a:spAutoFit/>
          </a:bodyPr>
          <a:lstStyle/>
          <a:p>
            <a:pPr algn="just"/>
            <a:r>
              <a:rPr lang="en-IN" sz="2000" dirty="0"/>
              <a:t>Our AI-driven Reinforcement Learning scheduler offers a significant advancement in energy-efficient IoT network management. By intelligently optimizing sleep/wake cycles and transmission scheduling:</a:t>
            </a:r>
          </a:p>
          <a:p>
            <a:pPr algn="just"/>
            <a:r>
              <a:rPr lang="en-IN" sz="2000" b="1" dirty="0"/>
              <a:t>Energy Efficiency:</a:t>
            </a:r>
            <a:r>
              <a:rPr lang="en-IN" sz="2000" dirty="0"/>
              <a:t> Achieves up to 50% reduction in energy per bit compared to CSMA/CA and an additional 10–25% improvement over static duty-cycle methods, minimizing idle listening and retransmissions.</a:t>
            </a:r>
          </a:p>
          <a:p>
            <a:pPr algn="just"/>
            <a:r>
              <a:rPr lang="en-IN" sz="2000" b="1" dirty="0"/>
              <a:t>Network Lifetime Extension:</a:t>
            </a:r>
            <a:r>
              <a:rPr lang="en-IN" sz="2000" dirty="0"/>
              <a:t> Extends network lifetime by 30–80%, with uniform energy consumption across nodes, enabling longer deployments with fewer battery replacements.</a:t>
            </a:r>
          </a:p>
          <a:p>
            <a:pPr algn="just"/>
            <a:r>
              <a:rPr lang="en-IN" sz="2000" b="1" dirty="0"/>
              <a:t>Quality of Service (QoS):</a:t>
            </a:r>
            <a:r>
              <a:rPr lang="en-IN" sz="2000" dirty="0"/>
              <a:t> Maintains ≥95% packet delivery ratio and low latency, even under bursty or heterogeneous traffic, ensuring reliable and timely data delivery.</a:t>
            </a:r>
          </a:p>
          <a:p>
            <a:pPr algn="just"/>
            <a:r>
              <a:rPr lang="en-IN" sz="2000" b="1" dirty="0"/>
              <a:t>Sustainability Impact:</a:t>
            </a:r>
            <a:r>
              <a:rPr lang="en-IN" sz="2000" dirty="0"/>
              <a:t> Reduces electronic waste and supports green technology goals by minimizing battery swaps and promoting longer-lasting sensor networks.</a:t>
            </a:r>
          </a:p>
          <a:p>
            <a:pPr algn="just"/>
            <a:r>
              <a:rPr lang="en-IN" sz="2000" dirty="0"/>
              <a:t>Overall, our approach demonstrates that </a:t>
            </a:r>
            <a:r>
              <a:rPr lang="en-IN" sz="2000" b="1" dirty="0"/>
              <a:t>intelligent, adaptive scheduling can simultaneously maximize energy efficiency, maintain QoS, and promote environmental sustainability</a:t>
            </a:r>
            <a:r>
              <a:rPr lang="en-IN" sz="2000" dirty="0"/>
              <a:t>, making it highly suitable for dense, heterogeneous IoT deployments in smart cities, healthcare, and agriculture.</a:t>
            </a:r>
          </a:p>
        </p:txBody>
      </p:sp>
    </p:spTree>
    <p:extLst>
      <p:ext uri="{BB962C8B-B14F-4D97-AF65-F5344CB8AC3E}">
        <p14:creationId xmlns:p14="http://schemas.microsoft.com/office/powerpoint/2010/main" val="2435344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D3D6F-3724-2D94-CFFD-814702E3BF4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DE97C55-62D4-C671-DBAB-A1A419A6B174}"/>
              </a:ext>
            </a:extLst>
          </p:cNvPr>
          <p:cNvSpPr txBox="1">
            <a:spLocks/>
          </p:cNvSpPr>
          <p:nvPr/>
        </p:nvSpPr>
        <p:spPr>
          <a:xfrm>
            <a:off x="3140" y="6575217"/>
            <a:ext cx="7990508" cy="282781"/>
          </a:xfrm>
          <a:prstGeom prst="rect">
            <a:avLst/>
          </a:prstGeom>
          <a:solidFill>
            <a:schemeClr val="accent4"/>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5FF770B9-3436-76D9-0C92-40628D7AF43D}"/>
              </a:ext>
            </a:extLst>
          </p:cNvPr>
          <p:cNvSpPr txBox="1">
            <a:spLocks/>
          </p:cNvSpPr>
          <p:nvPr/>
        </p:nvSpPr>
        <p:spPr>
          <a:xfrm>
            <a:off x="8008661" y="6575217"/>
            <a:ext cx="4183339" cy="282782"/>
          </a:xfrm>
          <a:prstGeom prst="rect">
            <a:avLst/>
          </a:prstGeom>
          <a:solidFill>
            <a:schemeClr val="accent2">
              <a:lumMod val="75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342149A4-F9D8-F235-D9FC-98A4D13824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2" name="Title 1">
            <a:extLst>
              <a:ext uri="{FF2B5EF4-FFF2-40B4-BE49-F238E27FC236}">
                <a16:creationId xmlns:a16="http://schemas.microsoft.com/office/drawing/2014/main" id="{5526112D-09BD-D008-2407-3850BA1F1A7F}"/>
              </a:ext>
            </a:extLst>
          </p:cNvPr>
          <p:cNvSpPr txBox="1">
            <a:spLocks/>
          </p:cNvSpPr>
          <p:nvPr/>
        </p:nvSpPr>
        <p:spPr>
          <a:xfrm>
            <a:off x="0" y="33303"/>
            <a:ext cx="12191999" cy="584705"/>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bg1"/>
                </a:solidFill>
                <a:latin typeface="Times New Roman" panose="02020603050405020304" pitchFamily="18" charset="0"/>
                <a:cs typeface="Times New Roman" panose="02020603050405020304" pitchFamily="18" charset="0"/>
              </a:rPr>
              <a:t>References</a:t>
            </a:r>
            <a:endParaRPr lang="en-IN" sz="2800" b="1" dirty="0">
              <a:solidFill>
                <a:schemeClr val="bg1"/>
              </a:solidFill>
              <a:latin typeface="Times New Roman" panose="02020603050405020304" pitchFamily="18" charset="0"/>
              <a:cs typeface="Times New Roman" panose="02020603050405020304" pitchFamily="18" charset="0"/>
            </a:endParaRPr>
          </a:p>
        </p:txBody>
      </p:sp>
      <p:pic>
        <p:nvPicPr>
          <p:cNvPr id="3" name="Picture 4" descr="352397-vtu-logo - Kollege Times">
            <a:extLst>
              <a:ext uri="{FF2B5EF4-FFF2-40B4-BE49-F238E27FC236}">
                <a16:creationId xmlns:a16="http://schemas.microsoft.com/office/drawing/2014/main" id="{AE8AF43B-24AD-DCAC-6673-0C0A5E5C967A}"/>
              </a:ext>
            </a:extLst>
          </p:cNvPr>
          <p:cNvPicPr>
            <a:picLocks noChangeAspect="1" noChangeArrowheads="1"/>
          </p:cNvPicPr>
          <p:nvPr/>
        </p:nvPicPr>
        <p:blipFill>
          <a:blip r:embed="rId3" cstate="print"/>
          <a:srcRect/>
          <a:stretch>
            <a:fillRect/>
          </a:stretch>
        </p:blipFill>
        <p:spPr bwMode="auto">
          <a:xfrm>
            <a:off x="0" y="5784631"/>
            <a:ext cx="793630" cy="696527"/>
          </a:xfrm>
          <a:prstGeom prst="rect">
            <a:avLst/>
          </a:prstGeom>
          <a:noFill/>
        </p:spPr>
      </p:pic>
      <p:sp>
        <p:nvSpPr>
          <p:cNvPr id="4" name="TextBox 3">
            <a:extLst>
              <a:ext uri="{FF2B5EF4-FFF2-40B4-BE49-F238E27FC236}">
                <a16:creationId xmlns:a16="http://schemas.microsoft.com/office/drawing/2014/main" id="{F3C38E26-9152-99D8-CE83-EA23AEC34EC8}"/>
              </a:ext>
            </a:extLst>
          </p:cNvPr>
          <p:cNvSpPr txBox="1"/>
          <p:nvPr/>
        </p:nvSpPr>
        <p:spPr>
          <a:xfrm>
            <a:off x="500331" y="860764"/>
            <a:ext cx="11191336" cy="3785652"/>
          </a:xfrm>
          <a:prstGeom prst="rect">
            <a:avLst/>
          </a:prstGeom>
          <a:noFill/>
        </p:spPr>
        <p:txBody>
          <a:bodyPr wrap="square" rtlCol="0">
            <a:spAutoFit/>
          </a:bodyPr>
          <a:lstStyle/>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Zhao, H., &amp; Chen, L. (2025). </a:t>
            </a:r>
            <a:r>
              <a:rPr lang="en-IN" sz="2000" i="1" dirty="0">
                <a:latin typeface="Times New Roman" panose="02020603050405020304" pitchFamily="18" charset="0"/>
                <a:cs typeface="Times New Roman" panose="02020603050405020304" pitchFamily="18" charset="0"/>
              </a:rPr>
              <a:t>Energy-efficient routing in WSNs using multi-agent Q-learning</a:t>
            </a:r>
            <a:r>
              <a:rPr lang="en-IN" sz="2000" dirty="0">
                <a:latin typeface="Times New Roman" panose="02020603050405020304" pitchFamily="18" charset="0"/>
                <a:cs typeface="Times New Roman" panose="02020603050405020304" pitchFamily="18" charset="0"/>
              </a:rPr>
              <a:t>. arXiv:2502.04567.</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Ahmed, T., &amp; Singh, P. (2025). </a:t>
            </a:r>
            <a:r>
              <a:rPr lang="en-IN" sz="2000" i="1" dirty="0">
                <a:latin typeface="Times New Roman" panose="02020603050405020304" pitchFamily="18" charset="0"/>
                <a:cs typeface="Times New Roman" panose="02020603050405020304" pitchFamily="18" charset="0"/>
              </a:rPr>
              <a:t>Adaptive vision-based coverage optimization using DRL in WSNs</a:t>
            </a:r>
            <a:r>
              <a:rPr lang="en-IN" sz="2000" dirty="0">
                <a:latin typeface="Times New Roman" panose="02020603050405020304" pitchFamily="18" charset="0"/>
                <a:cs typeface="Times New Roman" panose="02020603050405020304" pitchFamily="18" charset="0"/>
              </a:rPr>
              <a:t>. arXiv:2503.07891.</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Sharma, A., &amp; Gupta, R. (2024). </a:t>
            </a:r>
            <a:r>
              <a:rPr lang="en-IN" sz="2000" i="1" dirty="0">
                <a:latin typeface="Times New Roman" panose="02020603050405020304" pitchFamily="18" charset="0"/>
                <a:cs typeface="Times New Roman" panose="02020603050405020304" pitchFamily="18" charset="0"/>
              </a:rPr>
              <a:t>RL-BMAC: Reinforcement learning-based MAC protocol</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Sensors</a:t>
            </a:r>
            <a:r>
              <a:rPr lang="en-IN" sz="2000" dirty="0">
                <a:latin typeface="Times New Roman" panose="02020603050405020304" pitchFamily="18" charset="0"/>
                <a:cs typeface="Times New Roman" panose="02020603050405020304" pitchFamily="18" charset="0"/>
              </a:rPr>
              <a:t>, 24(12), 4550.</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Kumar, S., &amp; Patel, M. (2023). </a:t>
            </a:r>
            <a:r>
              <a:rPr lang="en-IN" sz="2000" i="1" dirty="0">
                <a:latin typeface="Times New Roman" panose="02020603050405020304" pitchFamily="18" charset="0"/>
                <a:cs typeface="Times New Roman" panose="02020603050405020304" pitchFamily="18" charset="0"/>
              </a:rPr>
              <a:t>Survey of RL-based MAC protocols in wireless ad-hoc networks</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Electronics</a:t>
            </a:r>
            <a:r>
              <a:rPr lang="en-IN" sz="2000" dirty="0">
                <a:latin typeface="Times New Roman" panose="02020603050405020304" pitchFamily="18" charset="0"/>
                <a:cs typeface="Times New Roman" panose="02020603050405020304" pitchFamily="18" charset="0"/>
              </a:rPr>
              <a:t>, 12(18), 3890.</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Li, X., &amp; Wang, Y. (2020). </a:t>
            </a:r>
            <a:r>
              <a:rPr lang="en-IN" sz="2000" i="1" dirty="0">
                <a:latin typeface="Times New Roman" panose="02020603050405020304" pitchFamily="18" charset="0"/>
                <a:cs typeface="Times New Roman" panose="02020603050405020304" pitchFamily="18" charset="0"/>
              </a:rPr>
              <a:t>Opportunistic routing with duty-cycled MAC in WSNs</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Sensors</a:t>
            </a:r>
            <a:r>
              <a:rPr lang="en-IN" sz="2000" dirty="0">
                <a:latin typeface="Times New Roman" panose="02020603050405020304" pitchFamily="18" charset="0"/>
                <a:cs typeface="Times New Roman" panose="02020603050405020304" pitchFamily="18" charset="0"/>
              </a:rPr>
              <a:t>, 20(22), 6543.</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Additional references from RL-based energy optimization studies (2022–2025) covering duty-cycle scheduling, fuzzy logic, and federated learning approaches.</a:t>
            </a:r>
          </a:p>
        </p:txBody>
      </p:sp>
    </p:spTree>
    <p:extLst>
      <p:ext uri="{BB962C8B-B14F-4D97-AF65-F5344CB8AC3E}">
        <p14:creationId xmlns:p14="http://schemas.microsoft.com/office/powerpoint/2010/main" val="69445658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15727</TotalTime>
  <Words>1741</Words>
  <Application>Microsoft Office PowerPoint</Application>
  <PresentationFormat>Widescreen</PresentationFormat>
  <Paragraphs>293</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Cambria</vt:lpstr>
      <vt:lpstr>Times New Roman</vt:lpstr>
      <vt:lpstr>1_Office Theme</vt:lpstr>
      <vt:lpstr>AI-Based Energy Optimization in IoT Networks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Domain Representation of LTI System</dc:title>
  <dc:creator>Muralidhar Rangappa</dc:creator>
  <cp:lastModifiedBy>Ashmit Mishra</cp:lastModifiedBy>
  <cp:revision>332</cp:revision>
  <dcterms:created xsi:type="dcterms:W3CDTF">2020-03-27T05:01:11Z</dcterms:created>
  <dcterms:modified xsi:type="dcterms:W3CDTF">2025-11-23T12:00:16Z</dcterms:modified>
</cp:coreProperties>
</file>